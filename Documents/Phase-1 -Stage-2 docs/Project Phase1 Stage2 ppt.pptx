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ato Bold" charset="1" panose="020F0502020204030203"/>
      <p:regular r:id="rId16"/>
    </p:embeddedFont>
    <p:embeddedFont>
      <p:font typeface="Lato" charset="1" panose="020F050202020403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8" y="2156822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0238" y="3410845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Diabetes mellitus is a chronic metabolic disorder affecting millions worldwide.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637037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One of its serious complications is diabetic peripheral neuropathy, which can lead to foot ulcers and amputations.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863228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Early identification of abnormal foot conditions is crucial to prevent severe outcomes.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7089429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Infrared thermal imaging provides a non-invasive, contactless, and safe method to observe foot temperature patterns.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4889"/>
            <a:ext cx="928390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Motivation and Project Focus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89091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Neuropathic changes often manifest as thermal asymmetry and hotspots in thermal foot images.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16165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Manual interpretation of thermal images is subjective and requires expert knowledge.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934227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and deep learning can automate thermal pattern analysis.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706791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focuses on risk classification (Low / Moderate / High), not medical diagnosis.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41004" y="484737"/>
            <a:ext cx="7496623" cy="5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641004" y="1442447"/>
            <a:ext cx="10932766" cy="7841752"/>
          </a:xfrm>
          <a:custGeom>
            <a:avLst/>
            <a:gdLst/>
            <a:ahLst/>
            <a:cxnLst/>
            <a:rect r="r" b="b" t="t" l="l"/>
            <a:pathLst>
              <a:path h="7841752" w="10932766">
                <a:moveTo>
                  <a:pt x="0" y="0"/>
                </a:moveTo>
                <a:lnTo>
                  <a:pt x="10932766" y="0"/>
                </a:lnTo>
                <a:lnTo>
                  <a:pt x="10932766" y="7841751"/>
                </a:lnTo>
                <a:lnTo>
                  <a:pt x="0" y="784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t="0" r="-2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75027"/>
            <a:ext cx="758874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Identified Research Gap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98499" y="4074909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3630" y="4047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Risk Stratification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0" y="4583906"/>
            <a:ext cx="705311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Most existing works focus on binary diagnosis, not risk stratification.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427369" y="4074909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2499" y="4047087"/>
            <a:ext cx="385331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CNN Output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2499" y="4583906"/>
            <a:ext cx="705326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CNN outputs with global thermal statistical features.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98499" y="616222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630" y="6134395"/>
            <a:ext cx="509423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Lightweight CNN Benchmarking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630" y="6671224"/>
            <a:ext cx="705311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Few studies benchmark lightweight CNNs for thermal foot images.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427369" y="6162227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42499" y="613439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Project Focus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2499" y="6671224"/>
            <a:ext cx="705326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addresses these gaps through a hybrid, risk-based framework.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03602"/>
            <a:ext cx="16303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Requirements and Analysis: Functional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885430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Load and preprocess thermal foot images.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438184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data augmentation to expand dataset and improve generalization.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990930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CNN-based binary classifiers.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54367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global thermal features from images based on medical thermography methods.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096420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risk scores based on classifier output and global thermal features and classify risk levels.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17239"/>
            <a:ext cx="9561462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Non-Functional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30984"/>
            <a:ext cx="445621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Reliability &amp; Reproducibility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481217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reliability and reproducibility of results.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83098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Efficient Computation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481217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 computation suitable for limited resources.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86859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Modular &amp; Scalable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518824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and scalable system design.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586859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Validity &amp; Ethics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6518824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Validation of outputs for medical relevance.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94132"/>
            <a:ext cx="16303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Tools and Technologies Used: Software and Frameworks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4266457"/>
            <a:ext cx="16313048" cy="4093073"/>
            <a:chOff x="0" y="0"/>
            <a:chExt cx="21750731" cy="5457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782" cy="5457444"/>
            </a:xfrm>
            <a:custGeom>
              <a:avLst/>
              <a:gdLst/>
              <a:ahLst/>
              <a:cxnLst/>
              <a:rect r="r" b="b" t="t" l="l"/>
              <a:pathLst>
                <a:path h="5457444" w="21750782">
                  <a:moveTo>
                    <a:pt x="0" y="63119"/>
                  </a:moveTo>
                  <a:cubicBezTo>
                    <a:pt x="0" y="28194"/>
                    <a:pt x="28321" y="0"/>
                    <a:pt x="63246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782" y="28194"/>
                    <a:pt x="21750782" y="63119"/>
                  </a:cubicBezTo>
                  <a:lnTo>
                    <a:pt x="21744432" y="63119"/>
                  </a:lnTo>
                  <a:lnTo>
                    <a:pt x="21750782" y="63119"/>
                  </a:lnTo>
                  <a:lnTo>
                    <a:pt x="21750782" y="5394325"/>
                  </a:lnTo>
                  <a:lnTo>
                    <a:pt x="21744432" y="5394325"/>
                  </a:lnTo>
                  <a:lnTo>
                    <a:pt x="21750782" y="5394325"/>
                  </a:lnTo>
                  <a:cubicBezTo>
                    <a:pt x="21750782" y="5429123"/>
                    <a:pt x="21722462" y="5457444"/>
                    <a:pt x="21687537" y="5457444"/>
                  </a:cubicBezTo>
                  <a:lnTo>
                    <a:pt x="21687537" y="5451094"/>
                  </a:lnTo>
                  <a:lnTo>
                    <a:pt x="21687537" y="5457444"/>
                  </a:lnTo>
                  <a:lnTo>
                    <a:pt x="63246" y="5457444"/>
                  </a:lnTo>
                  <a:lnTo>
                    <a:pt x="63246" y="5451094"/>
                  </a:lnTo>
                  <a:lnTo>
                    <a:pt x="63246" y="5457444"/>
                  </a:lnTo>
                  <a:cubicBezTo>
                    <a:pt x="28321" y="5457444"/>
                    <a:pt x="0" y="5429250"/>
                    <a:pt x="0" y="53943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394325"/>
                  </a:lnTo>
                  <a:lnTo>
                    <a:pt x="6350" y="5394325"/>
                  </a:lnTo>
                  <a:lnTo>
                    <a:pt x="12700" y="5394325"/>
                  </a:lnTo>
                  <a:cubicBezTo>
                    <a:pt x="12700" y="5422138"/>
                    <a:pt x="35306" y="5444744"/>
                    <a:pt x="63246" y="5444744"/>
                  </a:cubicBezTo>
                  <a:lnTo>
                    <a:pt x="21687537" y="5444744"/>
                  </a:lnTo>
                  <a:cubicBezTo>
                    <a:pt x="21715476" y="5444744"/>
                    <a:pt x="21738082" y="5422138"/>
                    <a:pt x="21738082" y="5394325"/>
                  </a:cubicBezTo>
                  <a:lnTo>
                    <a:pt x="21738082" y="63119"/>
                  </a:lnTo>
                  <a:cubicBezTo>
                    <a:pt x="21738082" y="35306"/>
                    <a:pt x="21715476" y="12700"/>
                    <a:pt x="21687537" y="12700"/>
                  </a:cubicBezTo>
                  <a:lnTo>
                    <a:pt x="63246" y="12700"/>
                  </a:lnTo>
                  <a:lnTo>
                    <a:pt x="63246" y="6350"/>
                  </a:lnTo>
                  <a:lnTo>
                    <a:pt x="63246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1763" y="4280745"/>
            <a:ext cx="16284473" cy="812902"/>
            <a:chOff x="0" y="0"/>
            <a:chExt cx="21712631" cy="10838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4" y="4365127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Programming 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2284" y="4365127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1763" y="5093646"/>
            <a:ext cx="16284473" cy="812902"/>
            <a:chOff x="0" y="0"/>
            <a:chExt cx="21712631" cy="10838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284" y="5178028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Framework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2284" y="5178028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 / Keras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3" y="5906538"/>
            <a:ext cx="16284473" cy="812902"/>
            <a:chOff x="0" y="0"/>
            <a:chExt cx="21712631" cy="10838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284" y="5990930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2284" y="5990930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NumPy, OpenCV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3" y="6719440"/>
            <a:ext cx="16284473" cy="812902"/>
            <a:chOff x="0" y="0"/>
            <a:chExt cx="21712631" cy="10838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284" y="6803822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2284" y="6803822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1763" y="7532341"/>
            <a:ext cx="16284473" cy="812902"/>
            <a:chOff x="0" y="0"/>
            <a:chExt cx="21712631" cy="10838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85284" y="7616723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 Evaluation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2284" y="7616723"/>
            <a:ext cx="7570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04885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Models and 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18630"/>
            <a:ext cx="489495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Pretrained CNN Architectures: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468863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EfficientNet-B0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021609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MobileNetV2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381863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Training Platform: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4468863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Colab, VS Code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528220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Handling: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5932437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Directory-based generators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6745786"/>
            <a:ext cx="41130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Experiment Management: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8922" y="7396010"/>
            <a:ext cx="7805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Versioned model saving and experiment logging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9491" y="734768"/>
            <a:ext cx="6853533" cy="87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Design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59491" y="2158756"/>
            <a:ext cx="14766579" cy="3743325"/>
          </a:xfrm>
          <a:custGeom>
            <a:avLst/>
            <a:gdLst/>
            <a:ahLst/>
            <a:cxnLst/>
            <a:rect r="r" b="b" t="t" l="l"/>
            <a:pathLst>
              <a:path h="3743325" w="14766579">
                <a:moveTo>
                  <a:pt x="0" y="0"/>
                </a:moveTo>
                <a:lnTo>
                  <a:pt x="14766579" y="0"/>
                </a:lnTo>
                <a:lnTo>
                  <a:pt x="14766579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" r="0" b="-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9491" y="6862172"/>
            <a:ext cx="16369008" cy="53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CNNs learn complex spatial thermal patterns.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491" y="7396610"/>
            <a:ext cx="16369008" cy="53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Global thermal features add physiological interpretability.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491" y="7931048"/>
            <a:ext cx="16369008" cy="53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Hybrid design improves robustness.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491" y="8465496"/>
            <a:ext cx="16369008" cy="53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Risk-based output avoids clinical overclaiming.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491" y="8999934"/>
            <a:ext cx="16369008" cy="53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pipeline enables easy extension.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94890" y="596208"/>
            <a:ext cx="14288538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Model Training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4890" y="1702889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Images resized to 224×224 and normalized.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890" y="2145659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Binary classifiers trained using augmented dataset.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840" y="2588419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Two-phase training: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4890" y="3031179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Feature extraction phase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4890" y="3473948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Fine-tuning phase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4890" y="3916709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Performance tracked using accuracy, AUC, precision, NPV, and F1-score.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4890" y="4677813"/>
            <a:ext cx="7978226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Output Generation and Storage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4890" y="567094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 saving of: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4890" y="611370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Trained models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890" y="655647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Training logs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4890" y="699923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Performance plots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4890" y="744199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4890" y="7884766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Structured version-wise folder organization.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4890" y="8327527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6" indent="-162123" lvl="1">
              <a:lnSpc>
                <a:spcPts val="3455"/>
              </a:lnSpc>
              <a:buFont typeface="Arial"/>
              <a:buChar char="•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Final output includes: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4890" y="8770296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Binary classification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890" y="9213056"/>
            <a:ext cx="16698220" cy="41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841" indent="-283614" lvl="2">
              <a:lnSpc>
                <a:spcPts val="3455"/>
              </a:lnSpc>
              <a:buFont typeface="Arial"/>
              <a:buChar char="⚬"/>
            </a:pPr>
            <a:r>
              <a:rPr lang="en-US" sz="21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 score inputs for further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DAG75FFc_xU</dc:identifier>
  <dcterms:modified xsi:type="dcterms:W3CDTF">2011-08-01T06:04:30Z</dcterms:modified>
  <cp:revision>1</cp:revision>
</cp:coreProperties>
</file>