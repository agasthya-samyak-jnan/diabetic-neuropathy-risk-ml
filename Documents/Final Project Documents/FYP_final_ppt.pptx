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2" r:id="rId1"/>
  </p:sldMasterIdLst>
  <p:sldIdLst>
    <p:sldId id="270" r:id="rId2"/>
    <p:sldId id="256" r:id="rId3"/>
    <p:sldId id="269" r:id="rId4"/>
    <p:sldId id="258" r:id="rId5"/>
    <p:sldId id="277" r:id="rId6"/>
    <p:sldId id="259" r:id="rId7"/>
    <p:sldId id="260" r:id="rId8"/>
    <p:sldId id="261" r:id="rId9"/>
    <p:sldId id="262" r:id="rId10"/>
    <p:sldId id="263" r:id="rId11"/>
    <p:sldId id="278" r:id="rId12"/>
    <p:sldId id="264" r:id="rId13"/>
    <p:sldId id="266" r:id="rId14"/>
    <p:sldId id="267" r:id="rId15"/>
    <p:sldId id="268" r:id="rId16"/>
    <p:sldId id="272" r:id="rId17"/>
    <p:sldId id="273" r:id="rId18"/>
    <p:sldId id="274" r:id="rId19"/>
    <p:sldId id="275" r:id="rId20"/>
    <p:sldId id="276" r:id="rId21"/>
    <p:sldId id="279" r:id="rId22"/>
    <p:sldId id="280" r:id="rId23"/>
  </p:sldIdLst>
  <p:sldSz cx="18288000" cy="10287000"/>
  <p:notesSz cx="6858000" cy="9144000"/>
  <p:embeddedFontLst>
    <p:embeddedFont>
      <p:font typeface="Lato" panose="020B0604020202020204" charset="0"/>
      <p:regular r:id="rId24"/>
      <p:bold r:id="rId25"/>
      <p:italic r:id="rId26"/>
      <p:boldItalic r:id="rId27"/>
    </p:embeddedFont>
    <p:embeddedFont>
      <p:font typeface="Lato Bold" panose="020B0604020202020204" charset="0"/>
      <p:regular r:id="rId28"/>
      <p:bold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Wingdings 3" panose="05040102010807070707" pitchFamily="18" charset="2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581FA-DA80-4600-AB06-37A074560BBD}" v="816" dt="2026-03-25T18:36:27.076"/>
    <p1510:client id="{AC8AE3F1-5895-77BE-0FF7-012C43B0CD8D}" v="16" dt="2026-03-25T18:05:12.692"/>
    <p1510:client id="{B03ED4C3-BE3D-4028-8935-D3EAA3B5C102}" v="38" dt="2026-03-25T18:55:17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8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8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8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2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684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3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6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36E19-7D2B-1BBD-8DE9-B18AE144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975355"/>
              </p:ext>
            </p:extLst>
          </p:nvPr>
        </p:nvGraphicFramePr>
        <p:xfrm>
          <a:off x="3680830" y="4208265"/>
          <a:ext cx="917745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221">
                  <a:extLst>
                    <a:ext uri="{9D8B030D-6E8A-4147-A177-3AD203B41FA5}">
                      <a16:colId xmlns:a16="http://schemas.microsoft.com/office/drawing/2014/main" val="2968652794"/>
                    </a:ext>
                  </a:extLst>
                </a:gridCol>
                <a:gridCol w="3907233">
                  <a:extLst>
                    <a:ext uri="{9D8B030D-6E8A-4147-A177-3AD203B41FA5}">
                      <a16:colId xmlns:a16="http://schemas.microsoft.com/office/drawing/2014/main" val="3266955416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r>
                        <a:rPr lang="en-US"/>
                        <a:t>Name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Agasthya Samyak </a:t>
                      </a:r>
                      <a:r>
                        <a:rPr lang="en-IN" sz="2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02JST22UCS006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Jayanth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02JST22UCS043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5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Arvind </a:t>
                      </a:r>
                      <a:r>
                        <a:rPr lang="en-IN" sz="2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Ningombam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02JST22US017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Prajwal T P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01JST21CS099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783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5ACFB-F193-F21A-6EFA-4A0D7F9CBEAC}"/>
              </a:ext>
            </a:extLst>
          </p:cNvPr>
          <p:cNvSpPr txBox="1"/>
          <p:nvPr/>
        </p:nvSpPr>
        <p:spPr>
          <a:xfrm>
            <a:off x="2135458" y="1283319"/>
            <a:ext cx="122682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</a:rPr>
              <a:t>A data-driven framework for diabetic peripheral neuropathy risk prediction using foot thermograms</a:t>
            </a:r>
            <a:endParaRPr lang="en-IN" sz="5500" dirty="0">
              <a:latin typeface="Lato Bold" panose="020B0604020202020204" charset="0"/>
              <a:ea typeface="Lato Bold" panose="020B0604020202020204" charset="0"/>
              <a:cs typeface="Lato 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7975-480D-DA0A-B745-ADCCBF4CE354}"/>
              </a:ext>
            </a:extLst>
          </p:cNvPr>
          <p:cNvSpPr txBox="1"/>
          <p:nvPr/>
        </p:nvSpPr>
        <p:spPr>
          <a:xfrm>
            <a:off x="6343851" y="7016322"/>
            <a:ext cx="3851413" cy="279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1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500" i="1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25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5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Amaresh A M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25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5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5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CS&amp;E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5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SJCE, JSS STU Mysuru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8DCE3-8C27-AEBE-D465-C393C54AD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8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95400" y="2324099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3600924"/>
            <a:ext cx="13312698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Diabetes mellitus is a chronic metabolic disorder affecting millions worldwide.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4584882"/>
            <a:ext cx="14249400" cy="873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One of its serious complications is diabetic peripheral neuropathy, which can lead to foot ulcers and amputations.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5920789"/>
            <a:ext cx="12649200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Early identification of abnormal foot conditions is crucial to prevent severe outcomes.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400" y="6795032"/>
            <a:ext cx="12788590" cy="873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Infrared thermal imaging provides a non-invasive, contactless, and safe method to observe foot temperature patterns.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8AA0C8-912F-6DEB-6831-67709A17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080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680CE0-5E6A-C59E-C24B-F1AB7898421B}"/>
              </a:ext>
            </a:extLst>
          </p:cNvPr>
          <p:cNvSpPr txBox="1"/>
          <p:nvPr/>
        </p:nvSpPr>
        <p:spPr>
          <a:xfrm>
            <a:off x="992238" y="2464889"/>
            <a:ext cx="9828162" cy="81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Motivation and Project Focus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ABD0C5-C7D5-B448-A9C5-F452F80C2BF3}"/>
              </a:ext>
            </a:extLst>
          </p:cNvPr>
          <p:cNvSpPr txBox="1"/>
          <p:nvPr/>
        </p:nvSpPr>
        <p:spPr>
          <a:xfrm>
            <a:off x="992238" y="4389091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Neuropathic changes often manifest as thermal asymmetry and hotspots in thermal foot images.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1F7D42-8A7E-3B66-0E10-B6CF149CDAAF}"/>
              </a:ext>
            </a:extLst>
          </p:cNvPr>
          <p:cNvSpPr txBox="1"/>
          <p:nvPr/>
        </p:nvSpPr>
        <p:spPr>
          <a:xfrm>
            <a:off x="992238" y="5161655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Manual interpretation of thermal images is subjective and requires expert knowledge.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E7F2C-17AF-0105-9600-9E9CF3DDDECE}"/>
              </a:ext>
            </a:extLst>
          </p:cNvPr>
          <p:cNvSpPr txBox="1"/>
          <p:nvPr/>
        </p:nvSpPr>
        <p:spPr>
          <a:xfrm>
            <a:off x="992238" y="5934227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and deep learning can automate thermal pattern analysis.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326DCF-ADE8-E4C2-343D-339327BB585F}"/>
              </a:ext>
            </a:extLst>
          </p:cNvPr>
          <p:cNvSpPr txBox="1"/>
          <p:nvPr/>
        </p:nvSpPr>
        <p:spPr>
          <a:xfrm>
            <a:off x="992238" y="6706791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focuses on risk classification (Low / Moderate / High), not medical diagnosis.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57E13-AEAA-C9D0-6AB4-8CCDB42C8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1004" y="495888"/>
            <a:ext cx="7496623" cy="59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59F31-DEB8-6076-DDA0-E96FEA799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E43170-59F2-3D24-872F-F829F6A8C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785" y="1371073"/>
            <a:ext cx="7716644" cy="84200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71F9D8-A294-06C2-1C7F-406975435D98}"/>
              </a:ext>
            </a:extLst>
          </p:cNvPr>
          <p:cNvSpPr txBox="1"/>
          <p:nvPr/>
        </p:nvSpPr>
        <p:spPr>
          <a:xfrm>
            <a:off x="588228" y="507278"/>
            <a:ext cx="9149574" cy="62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0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2D25C-E9DC-637D-04A4-F45BC677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693" y="1359683"/>
            <a:ext cx="7716644" cy="84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56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575027"/>
            <a:ext cx="758874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Identified Research Gap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9849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13630" y="404708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Risk Stratification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630" y="4583906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Most existing works focus on binary diagnosis, not risk stratification.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42736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42499" y="4047087"/>
            <a:ext cx="385331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CNN Output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2499" y="4583906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CNN outputs with global thermal statistical features.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913630" y="6134395"/>
            <a:ext cx="509423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Lightweight CNN Benchmarking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0" y="6671224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Few studies benchmark lightweight CNNs for thermal foot images.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F68E8F-782C-FD5B-FB9E-7B3CFAD7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60360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Requirements and Analysis: 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885430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Load and preprocess thermal foot images.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438184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data augmentation to expand dataset and improve generalization.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990930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CNN-based binary classifiers.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539808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global thermal features from images based on medical thermography methods.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96420"/>
            <a:ext cx="16303523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risk scores based on classifier output and global thermal features and classify risk levels.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D0FFE6-E45A-6655-FAC3-CFAADEB0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17239"/>
            <a:ext cx="9561462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Non-Functional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30984"/>
            <a:ext cx="4456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Reliability &amp; Reproducibility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reliability and reproducibility of results.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78016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Efficient Computation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733730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 computation suitable for limited resources.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31971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Modular &amp; Scalable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861671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and scalable system design.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8C8B2F-86FE-6CCD-5504-FF08277E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9413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Tools and Technologies Used: Software and Frameworks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266457"/>
            <a:ext cx="16313048" cy="4093073"/>
            <a:chOff x="0" y="0"/>
            <a:chExt cx="21750731" cy="54574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457444"/>
            </a:xfrm>
            <a:custGeom>
              <a:avLst/>
              <a:gdLst/>
              <a:ahLst/>
              <a:cxnLst/>
              <a:rect l="l" t="t" r="r" b="b"/>
              <a:pathLst>
                <a:path w="21750782" h="5457444">
                  <a:moveTo>
                    <a:pt x="0" y="63119"/>
                  </a:moveTo>
                  <a:cubicBezTo>
                    <a:pt x="0" y="28194"/>
                    <a:pt x="28321" y="0"/>
                    <a:pt x="63246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782" y="28194"/>
                    <a:pt x="21750782" y="63119"/>
                  </a:cubicBezTo>
                  <a:lnTo>
                    <a:pt x="21744432" y="63119"/>
                  </a:lnTo>
                  <a:lnTo>
                    <a:pt x="21750782" y="63119"/>
                  </a:lnTo>
                  <a:lnTo>
                    <a:pt x="21750782" y="5394325"/>
                  </a:lnTo>
                  <a:lnTo>
                    <a:pt x="21744432" y="5394325"/>
                  </a:lnTo>
                  <a:lnTo>
                    <a:pt x="21750782" y="5394325"/>
                  </a:lnTo>
                  <a:cubicBezTo>
                    <a:pt x="21750782" y="5429123"/>
                    <a:pt x="21722462" y="5457444"/>
                    <a:pt x="21687537" y="5457444"/>
                  </a:cubicBezTo>
                  <a:lnTo>
                    <a:pt x="21687537" y="5451094"/>
                  </a:lnTo>
                  <a:lnTo>
                    <a:pt x="21687537" y="5457444"/>
                  </a:lnTo>
                  <a:lnTo>
                    <a:pt x="63246" y="5457444"/>
                  </a:lnTo>
                  <a:lnTo>
                    <a:pt x="63246" y="5451094"/>
                  </a:lnTo>
                  <a:lnTo>
                    <a:pt x="63246" y="5457444"/>
                  </a:lnTo>
                  <a:cubicBezTo>
                    <a:pt x="28321" y="5457444"/>
                    <a:pt x="0" y="5429250"/>
                    <a:pt x="0" y="53943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394325"/>
                  </a:lnTo>
                  <a:lnTo>
                    <a:pt x="6350" y="5394325"/>
                  </a:lnTo>
                  <a:lnTo>
                    <a:pt x="12700" y="5394325"/>
                  </a:lnTo>
                  <a:cubicBezTo>
                    <a:pt x="12700" y="5422138"/>
                    <a:pt x="35306" y="5444744"/>
                    <a:pt x="63246" y="5444744"/>
                  </a:cubicBezTo>
                  <a:lnTo>
                    <a:pt x="21687537" y="5444744"/>
                  </a:lnTo>
                  <a:cubicBezTo>
                    <a:pt x="21715476" y="5444744"/>
                    <a:pt x="21738082" y="5422138"/>
                    <a:pt x="21738082" y="5394325"/>
                  </a:cubicBezTo>
                  <a:lnTo>
                    <a:pt x="21738082" y="63119"/>
                  </a:lnTo>
                  <a:cubicBezTo>
                    <a:pt x="21738082" y="35306"/>
                    <a:pt x="21715476" y="12700"/>
                    <a:pt x="21687537" y="12700"/>
                  </a:cubicBezTo>
                  <a:lnTo>
                    <a:pt x="63246" y="12700"/>
                  </a:lnTo>
                  <a:lnTo>
                    <a:pt x="63246" y="6350"/>
                  </a:lnTo>
                  <a:lnTo>
                    <a:pt x="63246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4280745"/>
            <a:ext cx="16284473" cy="812902"/>
            <a:chOff x="0" y="0"/>
            <a:chExt cx="21712631" cy="10838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Programming Language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5093646"/>
            <a:ext cx="16284473" cy="812902"/>
            <a:chOff x="0" y="0"/>
            <a:chExt cx="21712631" cy="10838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Framework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 / Keras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906538"/>
            <a:ext cx="16284473" cy="812902"/>
            <a:chOff x="0" y="0"/>
            <a:chExt cx="21712631" cy="10838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NumPy, OpenCV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6719440"/>
            <a:ext cx="16284473" cy="812902"/>
            <a:chOff x="0" y="0"/>
            <a:chExt cx="21712631" cy="108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7532341"/>
            <a:ext cx="16284473" cy="812902"/>
            <a:chOff x="0" y="0"/>
            <a:chExt cx="21712631" cy="10838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 Evaluation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F61B2C-4001-008E-08B1-D3A01C17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04885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Models and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18630"/>
            <a:ext cx="489495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Pretrained CNN Architectures: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68863"/>
            <a:ext cx="7805890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EfficientNet-B0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53982"/>
            <a:ext cx="7805890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MobileNetV2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381863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Training Platform: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397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Colab, VS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397" y="528220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Handling: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93243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Directory-based generators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745786"/>
            <a:ext cx="411300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Experiment Management: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8922" y="739601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Versioned model saving and experiment logging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E11EBF-045C-6CDA-4644-5A430DC3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8283"/>
            <a:ext cx="2924175" cy="1562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195C69-7832-EFE8-EBCD-F1B380F42395}"/>
              </a:ext>
            </a:extLst>
          </p:cNvPr>
          <p:cNvSpPr txBox="1"/>
          <p:nvPr/>
        </p:nvSpPr>
        <p:spPr>
          <a:xfrm>
            <a:off x="1081668" y="5684993"/>
            <a:ext cx="9182807" cy="42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9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XGBoost</a:t>
            </a:r>
            <a:endParaRPr lang="en-US" sz="219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6B8CB-D94D-DB74-B932-190F6C009005}"/>
              </a:ext>
            </a:extLst>
          </p:cNvPr>
          <p:cNvSpPr txBox="1"/>
          <p:nvPr/>
        </p:nvSpPr>
        <p:spPr>
          <a:xfrm>
            <a:off x="914401" y="497958"/>
            <a:ext cx="11630722" cy="94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60" dirty="0"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</a:rPr>
              <a:t>Dataset and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B3100-1E27-23AE-612B-0F04E2DB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06" y="6134768"/>
            <a:ext cx="1685866" cy="2733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70918A-BD4C-FB07-BF14-67197E5B1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926" y="6091442"/>
            <a:ext cx="1685866" cy="2776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0F5F6C-7EFF-5F6C-68BB-839258232646}"/>
              </a:ext>
            </a:extLst>
          </p:cNvPr>
          <p:cNvSpPr txBox="1"/>
          <p:nvPr/>
        </p:nvSpPr>
        <p:spPr>
          <a:xfrm>
            <a:off x="1193180" y="1556978"/>
            <a:ext cx="1352642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Plantar thermograms from the publicly available IEEE </a:t>
            </a:r>
            <a:r>
              <a:rPr lang="en-US" sz="22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Dataport</a:t>
            </a: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plantar thermogram dataset and its Kaggle mirror version were used in this work. The source dataset has bilateral thermal foot images divided into non-diabetic (control) and diabetic subjects.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Preprocessing methods like Image Resizing, Normalization, Data Augmentation (Rotation, Intensity Variations, translation, zooming etc.), Splitting, Batching and Shuffling were done to help train the models efficiently.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49E22-B43A-03CD-8BF1-0F2F03358D17}"/>
              </a:ext>
            </a:extLst>
          </p:cNvPr>
          <p:cNvSpPr txBox="1"/>
          <p:nvPr/>
        </p:nvSpPr>
        <p:spPr>
          <a:xfrm>
            <a:off x="1193178" y="3624330"/>
            <a:ext cx="44694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initial split distribution is: </a:t>
            </a:r>
          </a:p>
          <a:p>
            <a:r>
              <a:rPr lang="en-US" sz="2200" dirty="0"/>
              <a:t>     </a:t>
            </a:r>
            <a:endParaRPr lang="en-US" sz="20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B8622-1340-8D4C-7E62-0C3B4D70CCDB}"/>
              </a:ext>
            </a:extLst>
          </p:cNvPr>
          <p:cNvSpPr txBox="1"/>
          <p:nvPr/>
        </p:nvSpPr>
        <p:spPr>
          <a:xfrm>
            <a:off x="1492147" y="3966233"/>
            <a:ext cx="1198756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Training set: 720 Control, 724 Diabetes affected (DM) - 1444 training images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Validation set: 170 Control, 252 Diabetes affected (DM) - 422 validation images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03324-8266-C9D9-28C1-C5BE47D9824D}"/>
              </a:ext>
            </a:extLst>
          </p:cNvPr>
          <p:cNvSpPr txBox="1"/>
          <p:nvPr/>
        </p:nvSpPr>
        <p:spPr>
          <a:xfrm>
            <a:off x="1193178" y="4823066"/>
            <a:ext cx="125854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After applying the augmentation pipeline independently to both subsets, the dataset expanded to:</a:t>
            </a:r>
          </a:p>
          <a:p>
            <a:endParaRPr lang="en-US" sz="22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2D2E4-4348-75D4-E008-0D0EA9549607}"/>
              </a:ext>
            </a:extLst>
          </p:cNvPr>
          <p:cNvSpPr txBox="1"/>
          <p:nvPr/>
        </p:nvSpPr>
        <p:spPr>
          <a:xfrm>
            <a:off x="1492147" y="5274328"/>
            <a:ext cx="63784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 21,660 training images 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 6,330 validation images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F65E2-8104-AFA1-54A1-506E7EEF7C03}"/>
              </a:ext>
            </a:extLst>
          </p:cNvPr>
          <p:cNvSpPr txBox="1"/>
          <p:nvPr/>
        </p:nvSpPr>
        <p:spPr>
          <a:xfrm>
            <a:off x="1193178" y="9447996"/>
            <a:ext cx="14162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Samples from augmented dataset corresponding to neuropathic risk : (a) Low risk  (b) Medium risk (c) High risk foot images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77192-68ED-3AC6-9039-CEA77942A5EC}"/>
              </a:ext>
            </a:extLst>
          </p:cNvPr>
          <p:cNvSpPr txBox="1"/>
          <p:nvPr/>
        </p:nvSpPr>
        <p:spPr>
          <a:xfrm>
            <a:off x="1661531" y="8867642"/>
            <a:ext cx="13693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                           (a)                                                                   (b)                                                                   (c)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041F7E-DBDE-4ACE-9019-A592CA2A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2809" y="6134248"/>
            <a:ext cx="1685866" cy="27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6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59491" y="734768"/>
            <a:ext cx="6853533" cy="87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9491" y="6862172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CNNs learn complex spatial thermal patterns.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491" y="7396610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Global thermal features add physiological interpretability.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491" y="7931048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Hybrid design improves robustness.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491" y="8465496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Risk-based output avoids clinical overclaiming.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491" y="8999934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pipeline enables easy extension.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93CC79-17F5-3B7B-DCA8-4F9E2AE6D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980A8A-2AC8-9C14-D5D9-08330428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434" y="2044399"/>
            <a:ext cx="10705171" cy="43838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14AE3B-F4E5-37B3-94D7-9426547EBFBE}"/>
              </a:ext>
            </a:extLst>
          </p:cNvPr>
          <p:cNvSpPr txBox="1"/>
          <p:nvPr/>
        </p:nvSpPr>
        <p:spPr>
          <a:xfrm>
            <a:off x="794890" y="1546193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Image Processing and CNN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9AFB2-F875-1713-68A6-CAD5A5B962C9}"/>
              </a:ext>
            </a:extLst>
          </p:cNvPr>
          <p:cNvSpPr txBox="1"/>
          <p:nvPr/>
        </p:nvSpPr>
        <p:spPr>
          <a:xfrm>
            <a:off x="761760" y="2552700"/>
            <a:ext cx="14445110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Thermal images are batched, shuffled, resized to 224x224, and normalized before training and validation.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BC964-9EDC-E575-D493-7D37FC639A8F}"/>
              </a:ext>
            </a:extLst>
          </p:cNvPr>
          <p:cNvSpPr txBox="1"/>
          <p:nvPr/>
        </p:nvSpPr>
        <p:spPr>
          <a:xfrm>
            <a:off x="761760" y="3195070"/>
            <a:ext cx="14445110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The training is done in two stages: feature extraction and fine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CA7EC-119F-8B29-3C38-3B851E2FC79B}"/>
              </a:ext>
            </a:extLst>
          </p:cNvPr>
          <p:cNvSpPr txBox="1"/>
          <p:nvPr/>
        </p:nvSpPr>
        <p:spPr>
          <a:xfrm>
            <a:off x="761760" y="3776114"/>
            <a:ext cx="14445110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Pre trained layers are initially frozen to stabilize learning.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B4948-E909-F6B0-C64B-8906D17ED63B}"/>
              </a:ext>
            </a:extLst>
          </p:cNvPr>
          <p:cNvSpPr txBox="1"/>
          <p:nvPr/>
        </p:nvSpPr>
        <p:spPr>
          <a:xfrm>
            <a:off x="761760" y="4393253"/>
            <a:ext cx="14445110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Selected deeper layers unfrozen for fine tuning and better generalization.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E4DADA-898E-743B-82BA-A9B50679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586761"/>
            <a:ext cx="7696867" cy="34485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F89BF-0207-62B6-F74B-8A57D1F0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930039"/>
            <a:ext cx="8991600" cy="32766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3649EF-B9A5-5829-6B25-0B8D5AFB92AC}"/>
              </a:ext>
            </a:extLst>
          </p:cNvPr>
          <p:cNvSpPr txBox="1"/>
          <p:nvPr/>
        </p:nvSpPr>
        <p:spPr>
          <a:xfrm>
            <a:off x="761760" y="4946651"/>
            <a:ext cx="14445110" cy="483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Performance of various models are evaluated using multiple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2F2A2-9D64-6A8A-42D6-B4CDFE4D1A42}"/>
              </a:ext>
            </a:extLst>
          </p:cNvPr>
          <p:cNvSpPr txBox="1"/>
          <p:nvPr/>
        </p:nvSpPr>
        <p:spPr>
          <a:xfrm>
            <a:off x="1447800" y="94107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Comparison of performance of different Pre-trained CNN backbones.</a:t>
            </a:r>
            <a:endParaRPr lang="en-IN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EB159-9882-88DB-2475-3CD45F6294A9}"/>
              </a:ext>
            </a:extLst>
          </p:cNvPr>
          <p:cNvSpPr txBox="1"/>
          <p:nvPr/>
        </p:nvSpPr>
        <p:spPr>
          <a:xfrm>
            <a:off x="9465245" y="9376125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Accuracy Plots of Training and Fine Tuning of MobileNetV2 based Classifier Model.</a:t>
            </a:r>
            <a:endParaRPr lang="en-IN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90628-F818-7FC6-964B-C5BFA435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1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A3CC3E7-1B72-5850-E04E-AF14AF2CF03F}"/>
              </a:ext>
            </a:extLst>
          </p:cNvPr>
          <p:cNvSpPr txBox="1"/>
          <p:nvPr/>
        </p:nvSpPr>
        <p:spPr>
          <a:xfrm>
            <a:off x="1066800" y="25527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Dataset Risk Labelling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8283E-BB8D-CFDA-5BB2-95EB0C2F57E5}"/>
              </a:ext>
            </a:extLst>
          </p:cNvPr>
          <p:cNvSpPr txBox="1"/>
          <p:nvPr/>
        </p:nvSpPr>
        <p:spPr>
          <a:xfrm>
            <a:off x="881510" y="37471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Risk labels generated using an unsupervised thermal analysis approach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8F5C9-89D4-12AD-CA10-2C97546657F4}"/>
              </a:ext>
            </a:extLst>
          </p:cNvPr>
          <p:cNvSpPr txBox="1"/>
          <p:nvPr/>
        </p:nvSpPr>
        <p:spPr>
          <a:xfrm>
            <a:off x="881510" y="42818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Thermal features extracted from the HSV (V-channel) of foot thermograms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D24BB-B4C0-63E0-930D-5B04C146F54A}"/>
              </a:ext>
            </a:extLst>
          </p:cNvPr>
          <p:cNvSpPr txBox="1"/>
          <p:nvPr/>
        </p:nvSpPr>
        <p:spPr>
          <a:xfrm>
            <a:off x="908776" y="4816584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Computed features: mean temperature, standard deviation, entropy, and left–right asymmetry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07370-33E1-C10B-E6FA-9548A81128A0}"/>
              </a:ext>
            </a:extLst>
          </p:cNvPr>
          <p:cNvSpPr txBox="1"/>
          <p:nvPr/>
        </p:nvSpPr>
        <p:spPr>
          <a:xfrm>
            <a:off x="908776" y="5303962"/>
            <a:ext cx="14445110" cy="936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Thermal Risk Score (TRS) calculated to quantify abnormal heat patterns</a:t>
            </a:r>
          </a:p>
          <a:p>
            <a:pPr marL="162123" lvl="1">
              <a:lnSpc>
                <a:spcPts val="3455"/>
              </a:lnSpc>
            </a:pPr>
            <a:r>
              <a:rPr lang="en-US" sz="20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                                                         </a:t>
            </a:r>
            <a:r>
              <a:rPr lang="en-IN" sz="2000" dirty="0"/>
              <a:t>TRS = 0.4×Mean + 0.3×Std + 0.3×Entropy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F09D5-434E-6C0A-E922-1079BEBDE219}"/>
              </a:ext>
            </a:extLst>
          </p:cNvPr>
          <p:cNvSpPr txBox="1"/>
          <p:nvPr/>
        </p:nvSpPr>
        <p:spPr>
          <a:xfrm>
            <a:off x="881510" y="633481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K-Means clustering (k = 3) applied on normalized thermal features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93E3D-352C-46FA-DC71-9899D2E3D8F6}"/>
              </a:ext>
            </a:extLst>
          </p:cNvPr>
          <p:cNvSpPr txBox="1"/>
          <p:nvPr/>
        </p:nvSpPr>
        <p:spPr>
          <a:xfrm>
            <a:off x="898075" y="686951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Clusters ranked by TRS and labeled as </a:t>
            </a:r>
            <a:r>
              <a:rPr lang="en-US" sz="2000" b="1" dirty="0"/>
              <a:t>Low, Moderate, and High risk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70F58-8B08-3483-FC28-736EA134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0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876E9336-215E-CD78-A745-16F5EAC9BE5F}"/>
              </a:ext>
            </a:extLst>
          </p:cNvPr>
          <p:cNvSpPr txBox="1"/>
          <p:nvPr/>
        </p:nvSpPr>
        <p:spPr>
          <a:xfrm>
            <a:off x="762000" y="20955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XGBOOST-based Risk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6C6CB-3E0D-F267-6E52-646AC456F34E}"/>
              </a:ext>
            </a:extLst>
          </p:cNvPr>
          <p:cNvSpPr txBox="1"/>
          <p:nvPr/>
        </p:nvSpPr>
        <p:spPr>
          <a:xfrm>
            <a:off x="553519" y="3337310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 err="1"/>
              <a:t>XGBoost</a:t>
            </a:r>
            <a:r>
              <a:rPr lang="en-US" sz="2000" dirty="0"/>
              <a:t> regressor trained using deep image features from trained CNN and statistical thermal features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C3B25-0B30-7BFA-0905-9992D148FAD8}"/>
              </a:ext>
            </a:extLst>
          </p:cNvPr>
          <p:cNvSpPr txBox="1"/>
          <p:nvPr/>
        </p:nvSpPr>
        <p:spPr>
          <a:xfrm>
            <a:off x="553519" y="38246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Model predicts neuropathy risk on an ordinal risk scale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87866-300C-570C-FAF7-F8773919E7AA}"/>
              </a:ext>
            </a:extLst>
          </p:cNvPr>
          <p:cNvSpPr txBox="1"/>
          <p:nvPr/>
        </p:nvSpPr>
        <p:spPr>
          <a:xfrm>
            <a:off x="553519" y="4376490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IN" sz="2000" dirty="0"/>
              <a:t>Risk interpretation:  0.0–0.5 → Low risk, 0.5–1.5 → Moderate risk,  &gt; 1.5 → High risk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84B3F-3761-E48C-68BD-9E46C9344F66}"/>
              </a:ext>
            </a:extLst>
          </p:cNvPr>
          <p:cNvSpPr txBox="1"/>
          <p:nvPr/>
        </p:nvSpPr>
        <p:spPr>
          <a:xfrm>
            <a:off x="576710" y="49282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Dataset used: 21,660 training and 6,330 validation images (27,990 total) with risk labels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81FA8-14BC-8026-0A33-9F155BF178BD}"/>
              </a:ext>
            </a:extLst>
          </p:cNvPr>
          <p:cNvSpPr txBox="1"/>
          <p:nvPr/>
        </p:nvSpPr>
        <p:spPr>
          <a:xfrm>
            <a:off x="556832" y="54629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Confusion matrix shows strong separation between risk categories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562E-A5F8-3DE9-4E1E-E9A4D70CD0BB}"/>
              </a:ext>
            </a:extLst>
          </p:cNvPr>
          <p:cNvSpPr txBox="1"/>
          <p:nvPr/>
        </p:nvSpPr>
        <p:spPr>
          <a:xfrm>
            <a:off x="576710" y="603189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2000" dirty="0"/>
              <a:t>Minor overlap near boundaries, expected in medical ordinal prediction</a:t>
            </a:r>
            <a:endParaRPr lang="en-US" sz="20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58BC2-DE28-1C3F-0491-7BA85899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1" y="6808312"/>
            <a:ext cx="7346317" cy="22728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18A9F-501D-8AE9-2BB9-BF7FECBA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827" y="6940980"/>
            <a:ext cx="7718417" cy="20101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8D6A59-A740-3426-A717-2061DF0FD323}"/>
              </a:ext>
            </a:extLst>
          </p:cNvPr>
          <p:cNvSpPr txBox="1"/>
          <p:nvPr/>
        </p:nvSpPr>
        <p:spPr>
          <a:xfrm>
            <a:off x="27865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Confusion Matrix</a:t>
            </a:r>
            <a:endParaRPr lang="en-IN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0FEF5-FB68-D509-54F0-685036D4D35B}"/>
              </a:ext>
            </a:extLst>
          </p:cNvPr>
          <p:cNvSpPr txBox="1"/>
          <p:nvPr/>
        </p:nvSpPr>
        <p:spPr>
          <a:xfrm>
            <a:off x="108637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Validation Performance</a:t>
            </a:r>
            <a:endParaRPr lang="en-IN" i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BB947-4B75-0886-9CF4-CABC80CC3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79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7CFDDD-16CA-AAFB-0D54-7A73320C5375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Comparative Analysis: CNN-only vs. Hybrid Model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9275D-DB5E-8859-84A0-8E6726135431}"/>
              </a:ext>
            </a:extLst>
          </p:cNvPr>
          <p:cNvSpPr txBox="1"/>
          <p:nvPr/>
        </p:nvSpPr>
        <p:spPr>
          <a:xfrm>
            <a:off x="695068" y="2957189"/>
            <a:ext cx="1450404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  </a:t>
            </a:r>
            <a:r>
              <a:rPr lang="en-US" sz="2000" dirty="0">
                <a:ea typeface="+mn-lt"/>
                <a:cs typeface="+mn-lt"/>
              </a:rPr>
              <a:t> The CNN-only model demonstrated higher error metrics (RMSE</a:t>
            </a:r>
            <a:r>
              <a:rPr lang="en-US" sz="2000" baseline="0" dirty="0">
                <a:ea typeface="+mn-lt"/>
                <a:cs typeface="+mn-lt"/>
              </a:rPr>
              <a:t>: </a:t>
            </a:r>
            <a:r>
              <a:rPr lang="en-US" sz="2000" dirty="0">
                <a:ea typeface="+mn-lt"/>
                <a:cs typeface="+mn-lt"/>
              </a:rPr>
              <a:t>0.6102, MAE: 0.4989) compared to the Hybrid model.</a:t>
            </a:r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7B37D-7427-9E2A-012F-870A06EA6EC6}"/>
              </a:ext>
            </a:extLst>
          </p:cNvPr>
          <p:cNvSpPr txBox="1"/>
          <p:nvPr/>
        </p:nvSpPr>
        <p:spPr>
          <a:xfrm>
            <a:off x="695068" y="3938637"/>
            <a:ext cx="1413605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  The hybrid approach provides several key advantages, including improved separation between risk classes and a better alignment with the physiological characteristics of neuropathy. Furthermore, this method results in enhanced model interpretability and more reliable predictions.</a:t>
            </a:r>
          </a:p>
          <a:p>
            <a:pPr marL="285750" indent="-285750">
              <a:buFont typeface="Arial,Sans-Serif"/>
              <a:buChar char="•"/>
            </a:pPr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D2F92-E3CA-7054-1B9F-311F10AC3BA8}"/>
              </a:ext>
            </a:extLst>
          </p:cNvPr>
          <p:cNvSpPr txBox="1"/>
          <p:nvPr/>
        </p:nvSpPr>
        <p:spPr>
          <a:xfrm>
            <a:off x="695067" y="5420499"/>
            <a:ext cx="1251121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 baseline="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Handcrafted thermal features are essential for better neuropathy risk estimation.</a:t>
            </a:r>
            <a:endParaRPr lang="en-US" sz="2000" dirty="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 dirty="0">
              <a:latin typeface="Arial"/>
              <a:ea typeface="Arial"/>
              <a:cs typeface="Arial"/>
            </a:endParaRPr>
          </a:p>
          <a:p>
            <a:pPr algn="ctr"/>
            <a:endParaRPr lang="en-US" dirty="0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F33B0C08-A009-C951-D8AD-2DEFF4B4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815211-8EE4-1C45-A928-5031E055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772380"/>
              </p:ext>
            </p:extLst>
          </p:nvPr>
        </p:nvGraphicFramePr>
        <p:xfrm>
          <a:off x="1065115" y="6663869"/>
          <a:ext cx="133959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320">
                  <a:extLst>
                    <a:ext uri="{9D8B030D-6E8A-4147-A177-3AD203B41FA5}">
                      <a16:colId xmlns:a16="http://schemas.microsoft.com/office/drawing/2014/main" val="3657665895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48739182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259527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Calibri"/>
                          <a:cs typeface="Times New Roman"/>
                        </a:rPr>
                        <a:t>Hybrid features model</a:t>
                      </a:r>
                      <a:endParaRPr lang="en-US" sz="1800" i="1" dirty="0"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+mn-lt"/>
                          <a:cs typeface="Times New Roman"/>
                        </a:rPr>
                        <a:t>CNN-features only model</a:t>
                      </a:r>
                      <a:endParaRPr lang="en-US" sz="1800" i="1" dirty="0">
                        <a:latin typeface="Times New Roman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Root Mean Square Error (RMS)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0.473100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0.610200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98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Mean Square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0.357319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0.498862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48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Ordinal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0.995102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06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37DBB-2346-E123-93ED-45DAB2A91DAA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Desktop Application for Real-time Prediction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4861D-7252-FA0D-50CA-71E89CAF3230}"/>
              </a:ext>
            </a:extLst>
          </p:cNvPr>
          <p:cNvSpPr txBox="1"/>
          <p:nvPr/>
        </p:nvSpPr>
        <p:spPr>
          <a:xfrm>
            <a:off x="694921" y="2914807"/>
            <a:ext cx="126823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Python-based User Interface </a:t>
            </a:r>
            <a:endParaRPr lang="en-US" sz="2400" b="1" dirty="0"/>
          </a:p>
          <a:p>
            <a:pPr algn="l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B280A-D9A1-F22E-72E1-20FCABB9E5B0}"/>
              </a:ext>
            </a:extLst>
          </p:cNvPr>
          <p:cNvSpPr txBox="1"/>
          <p:nvPr/>
        </p:nvSpPr>
        <p:spPr>
          <a:xfrm>
            <a:off x="695068" y="3722473"/>
            <a:ext cx="1226407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Framework</a:t>
            </a:r>
            <a:r>
              <a:rPr lang="en-US" sz="2000" dirty="0">
                <a:ea typeface="+mn-lt"/>
                <a:cs typeface="+mn-lt"/>
              </a:rPr>
              <a:t>: Developed using the </a:t>
            </a:r>
            <a:r>
              <a:rPr lang="en-US" sz="2000" b="1" dirty="0" err="1">
                <a:ea typeface="+mn-lt"/>
                <a:cs typeface="+mn-lt"/>
              </a:rPr>
              <a:t>Tkinter</a:t>
            </a:r>
            <a:r>
              <a:rPr lang="en-US" sz="2000" dirty="0">
                <a:ea typeface="+mn-lt"/>
                <a:cs typeface="+mn-lt"/>
              </a:rPr>
              <a:t> library for a lightweight and efficient GUI.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901A1-C3EC-211E-814C-3815E4C2F374}"/>
              </a:ext>
            </a:extLst>
          </p:cNvPr>
          <p:cNvSpPr txBox="1"/>
          <p:nvPr/>
        </p:nvSpPr>
        <p:spPr>
          <a:xfrm>
            <a:off x="695068" y="4371203"/>
            <a:ext cx="1251121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   Core Components</a:t>
            </a:r>
            <a:r>
              <a:rPr lang="en-US" sz="2000" dirty="0">
                <a:ea typeface="+mn-lt"/>
                <a:cs typeface="+mn-lt"/>
              </a:rPr>
              <a:t>:</a:t>
            </a:r>
          </a:p>
          <a:p>
            <a:pPr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        Image Display Panel</a:t>
            </a:r>
            <a:r>
              <a:rPr lang="en-US" sz="2000" dirty="0">
                <a:ea typeface="+mn-lt"/>
                <a:cs typeface="+mn-lt"/>
              </a:rPr>
              <a:t>: Shows the uploaded thermal foot image.</a:t>
            </a:r>
          </a:p>
          <a:p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        Control Buttons</a:t>
            </a:r>
            <a:r>
              <a:rPr lang="en-US" sz="2000" baseline="0" dirty="0">
                <a:ea typeface="+mn-lt"/>
                <a:cs typeface="+mn-lt"/>
              </a:rPr>
              <a:t>: </a:t>
            </a:r>
            <a:r>
              <a:rPr lang="en-US" sz="2000" dirty="0">
                <a:ea typeface="+mn-lt"/>
                <a:cs typeface="+mn-lt"/>
              </a:rPr>
              <a:t>For image uploading and triggering risk prediction.</a:t>
            </a:r>
          </a:p>
          <a:p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        Result Area</a:t>
            </a:r>
            <a:r>
              <a:rPr lang="en-US" sz="2000" dirty="0">
                <a:ea typeface="+mn-lt"/>
                <a:cs typeface="+mn-lt"/>
              </a:rPr>
              <a:t>: Displays the predicted risk level (Low, Moderate, High) and numerical score.</a:t>
            </a:r>
          </a:p>
          <a:p>
            <a:pPr>
              <a:buFont typeface="Arial"/>
              <a:buChar char="•"/>
            </a:pPr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5172-DD2A-6158-AFA0-D84B1A96C71E}"/>
              </a:ext>
            </a:extLst>
          </p:cNvPr>
          <p:cNvSpPr txBox="1"/>
          <p:nvPr/>
        </p:nvSpPr>
        <p:spPr>
          <a:xfrm>
            <a:off x="694921" y="6843261"/>
            <a:ext cx="1421411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 b="1" dirty="0">
                <a:ea typeface="+mn-lt"/>
                <a:cs typeface="+mn-lt"/>
              </a:rPr>
              <a:t>Runtime Models</a:t>
            </a:r>
            <a:r>
              <a:rPr lang="en-US" sz="2000" baseline="0" dirty="0">
                <a:ea typeface="+mn-lt"/>
                <a:cs typeface="+mn-lt"/>
              </a:rPr>
              <a:t>: </a:t>
            </a:r>
            <a:r>
              <a:rPr lang="en-US" sz="2000" dirty="0">
                <a:ea typeface="+mn-lt"/>
                <a:cs typeface="+mn-lt"/>
              </a:rPr>
              <a:t>Loads the MobileNetV2 feature extractor, </a:t>
            </a:r>
            <a:r>
              <a:rPr lang="en-US" sz="2000" dirty="0" err="1">
                <a:ea typeface="+mn-lt"/>
                <a:cs typeface="+mn-lt"/>
              </a:rPr>
              <a:t>StandardScaler</a:t>
            </a:r>
            <a:r>
              <a:rPr lang="en-US" sz="2000" dirty="0">
                <a:ea typeface="+mn-lt"/>
                <a:cs typeface="+mn-lt"/>
              </a:rPr>
              <a:t>, and </a:t>
            </a:r>
            <a:r>
              <a:rPr lang="en-US" sz="2000" dirty="0" err="1">
                <a:ea typeface="+mn-lt"/>
                <a:cs typeface="+mn-lt"/>
              </a:rPr>
              <a:t>XGBoost</a:t>
            </a:r>
            <a:r>
              <a:rPr lang="en-US" sz="2000" dirty="0">
                <a:ea typeface="+mn-lt"/>
                <a:cs typeface="+mn-lt"/>
              </a:rPr>
              <a:t> regressor simultaneously.</a:t>
            </a:r>
            <a:endParaRPr lang="en-US" sz="2000" dirty="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 sz="2000" dirty="0">
              <a:latin typeface="Arial"/>
              <a:ea typeface="Arial"/>
              <a:cs typeface="Arial"/>
            </a:endParaRPr>
          </a:p>
          <a:p>
            <a:pPr algn="ctr"/>
            <a:endParaRPr lang="en-US" sz="2000" dirty="0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E8D45CE-FF46-0D44-3A6B-A3E5F3EA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53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0776B-3A94-8700-823D-71B4F0202CDF}"/>
              </a:ext>
            </a:extLst>
          </p:cNvPr>
          <p:cNvSpPr txBox="1"/>
          <p:nvPr/>
        </p:nvSpPr>
        <p:spPr>
          <a:xfrm>
            <a:off x="504033" y="1491097"/>
            <a:ext cx="16066050" cy="9836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Application Workflow and Risk Mapping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A42F-3FB2-ACA1-1E62-9198D6DBB7CE}"/>
              </a:ext>
            </a:extLst>
          </p:cNvPr>
          <p:cNvSpPr txBox="1"/>
          <p:nvPr/>
        </p:nvSpPr>
        <p:spPr>
          <a:xfrm>
            <a:off x="694921" y="2914807"/>
            <a:ext cx="12682304" cy="1132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ea typeface="+mn-lt"/>
                <a:cs typeface="+mn-lt"/>
              </a:rPr>
              <a:t>System Process</a:t>
            </a:r>
            <a:endParaRPr lang="en-US" sz="2400" b="1" dirty="0"/>
          </a:p>
          <a:p>
            <a:pPr algn="l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70A-A0EC-8EF9-C9EB-DC11DE911EC4}"/>
              </a:ext>
            </a:extLst>
          </p:cNvPr>
          <p:cNvSpPr txBox="1"/>
          <p:nvPr/>
        </p:nvSpPr>
        <p:spPr>
          <a:xfrm>
            <a:off x="694921" y="3716456"/>
            <a:ext cx="12264079" cy="497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 Image Upload</a:t>
            </a:r>
            <a:r>
              <a:rPr lang="en-US" sz="2000" dirty="0">
                <a:ea typeface="+mn-lt"/>
                <a:cs typeface="+mn-lt"/>
              </a:rPr>
              <a:t>: Supports PNG/JPG thermal image formats.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F764D-338D-1F1A-82CB-FE014343210F}"/>
              </a:ext>
            </a:extLst>
          </p:cNvPr>
          <p:cNvSpPr txBox="1"/>
          <p:nvPr/>
        </p:nvSpPr>
        <p:spPr>
          <a:xfrm>
            <a:off x="694921" y="4238650"/>
            <a:ext cx="12511214" cy="497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    Hybrid Extraction</a:t>
            </a:r>
            <a:r>
              <a:rPr lang="en-US" sz="2000" dirty="0">
                <a:ea typeface="+mn-lt"/>
                <a:cs typeface="+mn-lt"/>
              </a:rPr>
              <a:t>: Generates 1292 total features (1280 CNN + 12 Thermal).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3F8DB-1896-D6C4-40BF-4E5DC6221369}"/>
              </a:ext>
            </a:extLst>
          </p:cNvPr>
          <p:cNvSpPr txBox="1"/>
          <p:nvPr/>
        </p:nvSpPr>
        <p:spPr>
          <a:xfrm>
            <a:off x="694921" y="5318246"/>
            <a:ext cx="9144000" cy="497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Risk Prediction</a:t>
            </a:r>
            <a:r>
              <a:rPr lang="en-US" sz="2000" baseline="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XGBoost</a:t>
            </a:r>
            <a:r>
              <a:rPr lang="en-US" sz="2000" dirty="0">
                <a:ea typeface="+mn-lt"/>
                <a:cs typeface="+mn-lt"/>
              </a:rPr>
              <a:t> regressor computes a continuous risk score.</a:t>
            </a:r>
            <a:endParaRPr lang="en-US" sz="2000" dirty="0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42059-5E8C-F13C-E431-53F1E0D5884B}"/>
              </a:ext>
            </a:extLst>
          </p:cNvPr>
          <p:cNvSpPr txBox="1"/>
          <p:nvPr/>
        </p:nvSpPr>
        <p:spPr>
          <a:xfrm>
            <a:off x="695068" y="4819136"/>
            <a:ext cx="11928112" cy="497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 b="1" dirty="0">
                <a:ea typeface="+mn-lt"/>
                <a:cs typeface="+mn-lt"/>
              </a:rPr>
              <a:t>  Feature Scaling</a:t>
            </a:r>
            <a:r>
              <a:rPr lang="en-US" sz="2000" baseline="0" dirty="0">
                <a:ea typeface="+mn-lt"/>
                <a:cs typeface="+mn-lt"/>
              </a:rPr>
              <a:t>: </a:t>
            </a:r>
            <a:r>
              <a:rPr lang="en-US" sz="2000" dirty="0">
                <a:ea typeface="+mn-lt"/>
                <a:cs typeface="+mn-lt"/>
              </a:rPr>
              <a:t>Normalizes the combined vector using </a:t>
            </a:r>
            <a:r>
              <a:rPr lang="en-US" sz="2000" dirty="0" err="1">
                <a:ea typeface="+mn-lt"/>
                <a:cs typeface="+mn-lt"/>
              </a:rPr>
              <a:t>StandardScaler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1BB6A-0375-D4C0-B9EF-03C98E7400C9}"/>
              </a:ext>
            </a:extLst>
          </p:cNvPr>
          <p:cNvSpPr txBox="1"/>
          <p:nvPr/>
        </p:nvSpPr>
        <p:spPr>
          <a:xfrm>
            <a:off x="694921" y="5815754"/>
            <a:ext cx="9144000" cy="2805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   Output Mapping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pPr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    Low Risk</a:t>
            </a:r>
            <a:r>
              <a:rPr lang="en-US" sz="2000" dirty="0">
                <a:ea typeface="+mn-lt"/>
                <a:cs typeface="+mn-lt"/>
              </a:rPr>
              <a:t>: Score &lt;= 0.5</a:t>
            </a:r>
          </a:p>
          <a:p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    Medium Risk</a:t>
            </a:r>
            <a:r>
              <a:rPr lang="en-US" sz="2000" dirty="0">
                <a:ea typeface="+mn-lt"/>
                <a:cs typeface="+mn-lt"/>
              </a:rPr>
              <a:t>: 0.5 - 1.5</a:t>
            </a:r>
          </a:p>
          <a:p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    High </a:t>
            </a:r>
            <a:r>
              <a:rPr lang="en-US" sz="2000" b="1" baseline="0" dirty="0">
                <a:ea typeface="+mn-lt"/>
                <a:cs typeface="+mn-lt"/>
              </a:rPr>
              <a:t>Risk</a:t>
            </a:r>
            <a:r>
              <a:rPr lang="en-US" sz="2000" baseline="0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Score &gt; 1.5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 sz="2000" dirty="0">
              <a:cs typeface="Arial"/>
            </a:endParaRPr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A436C49-618D-B103-848E-ABC64048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548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E39CC54-157B-2FF9-35A5-878A3562FC76}"/>
              </a:ext>
            </a:extLst>
          </p:cNvPr>
          <p:cNvSpPr txBox="1"/>
          <p:nvPr/>
        </p:nvSpPr>
        <p:spPr>
          <a:xfrm>
            <a:off x="1416205" y="903248"/>
            <a:ext cx="15455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Application User Interface : opening and file selection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33413-3CC0-654D-4E14-7D5CBCBF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66" y="2572936"/>
            <a:ext cx="6733708" cy="6497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72AD35-B4B8-38D3-D328-81402101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572935"/>
            <a:ext cx="6733708" cy="649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6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4B2F6-7D9C-38D3-6205-704DB6049ADB}"/>
              </a:ext>
            </a:extLst>
          </p:cNvPr>
          <p:cNvSpPr txBox="1"/>
          <p:nvPr/>
        </p:nvSpPr>
        <p:spPr>
          <a:xfrm>
            <a:off x="334536" y="966673"/>
            <a:ext cx="17953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/>
              <a:t>Application User Interface : model predictions for different input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1C42E-A0FC-BAB5-4FF0-8E67E47B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4" y="2146605"/>
            <a:ext cx="4917688" cy="7035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B3D18-0BDC-C16A-CF7A-9D3CFDB4E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08" y="2199573"/>
            <a:ext cx="4917689" cy="6998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1E45A8-04AA-D5E9-6106-1A4F43F04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743" y="2146605"/>
            <a:ext cx="4917688" cy="699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32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CE3E5-0815-8E5D-A204-8749455102E0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Future Scopes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C7C1F-D81F-A7DD-E52B-4A38EDA0CEBB}"/>
              </a:ext>
            </a:extLst>
          </p:cNvPr>
          <p:cNvSpPr txBox="1"/>
          <p:nvPr/>
        </p:nvSpPr>
        <p:spPr>
          <a:xfrm>
            <a:off x="694919" y="3322265"/>
            <a:ext cx="12264079" cy="9591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 Domestic level application</a:t>
            </a:r>
            <a:r>
              <a:rPr lang="en-US" sz="2000" dirty="0">
                <a:ea typeface="+mn-lt"/>
                <a:cs typeface="+mn-lt"/>
              </a:rPr>
              <a:t>: The system could be integrated into smartphone based applications and would allow convenient home based monitoring using portable thermal cameras.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883EA-A91F-477F-156E-B4FED82CFFAE}"/>
              </a:ext>
            </a:extLst>
          </p:cNvPr>
          <p:cNvSpPr txBox="1"/>
          <p:nvPr/>
        </p:nvSpPr>
        <p:spPr>
          <a:xfrm>
            <a:off x="694918" y="4812302"/>
            <a:ext cx="12264079" cy="9591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 Expansion incorporating multi-disease detection</a:t>
            </a:r>
            <a:r>
              <a:rPr lang="en-US" sz="2000" dirty="0">
                <a:ea typeface="+mn-lt"/>
                <a:cs typeface="+mn-lt"/>
              </a:rPr>
              <a:t>: The system could be expanded to detect other diabetic foot conditions and vascular disorders using the same thermal imaging approaches.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97739-6039-8101-A93F-FEBF0EAC1D8C}"/>
              </a:ext>
            </a:extLst>
          </p:cNvPr>
          <p:cNvSpPr txBox="1"/>
          <p:nvPr/>
        </p:nvSpPr>
        <p:spPr>
          <a:xfrm>
            <a:off x="694920" y="6302340"/>
            <a:ext cx="12264079" cy="14208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/>
              <a:t>Deployment in Rural Healthcare Centers: </a:t>
            </a:r>
            <a:r>
              <a:rPr lang="en-US" sz="2000" dirty="0"/>
              <a:t>The lightweight and low-cost nature of the framework makes it suitable for deployment in rural and resource-constrained healthcare environments, improving accessibility to early diabetic neuropathy screening.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044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E7ABE-BF89-DAC3-FFA9-E5CAE023659D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Conclusions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F0BE1-AAEE-DA35-96A6-D303E1CBACB6}"/>
              </a:ext>
            </a:extLst>
          </p:cNvPr>
          <p:cNvSpPr txBox="1"/>
          <p:nvPr/>
        </p:nvSpPr>
        <p:spPr>
          <a:xfrm>
            <a:off x="694919" y="3322265"/>
            <a:ext cx="12264079" cy="4190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a smart and non-invasive system to predict diabetic neuropathy risk using foot thermal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Combined deep learning with thermal feature analysis for more reliable results.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Introduced a Thermal Risk Score (TRS) to provide better understanding of risk levels instead of simple yes/no predictions.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can support early detection, continuous monitoring, and faster clinical decision-making.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With further improvement and larger datasets, the framework has strong potential for real-world healthcare applications.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71633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644</TotalTime>
  <Words>1318</Words>
  <Application>Microsoft Office PowerPoint</Application>
  <PresentationFormat>Custom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Arial,Sans-Serif</vt:lpstr>
      <vt:lpstr>Trebuchet MS</vt:lpstr>
      <vt:lpstr>Times New Roman</vt:lpstr>
      <vt:lpstr>Wingdings 3</vt:lpstr>
      <vt:lpstr>Lato Bold</vt:lpstr>
      <vt:lpstr>Lato</vt:lpstr>
      <vt:lpstr>Arial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 T</dc:creator>
  <cp:lastModifiedBy>ningombamarvind@gmail.com</cp:lastModifiedBy>
  <cp:revision>34</cp:revision>
  <dcterms:created xsi:type="dcterms:W3CDTF">2006-08-16T00:00:00Z</dcterms:created>
  <dcterms:modified xsi:type="dcterms:W3CDTF">2026-05-14T08:19:19Z</dcterms:modified>
  <dc:identifier>DAG75FFc_xU</dc:identifier>
</cp:coreProperties>
</file>