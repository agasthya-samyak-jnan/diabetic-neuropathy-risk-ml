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22" r:id="rId1"/>
  </p:sldMasterIdLst>
  <p:sldIdLst>
    <p:sldId id="270" r:id="rId2"/>
    <p:sldId id="256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Lato" panose="020F0502020204030203" pitchFamily="34" charset="0"/>
      <p:regular r:id="rId15"/>
    </p:embeddedFont>
    <p:embeddedFont>
      <p:font typeface="Lato Bold" panose="020F0502020204030203" charset="0"/>
      <p:regular r:id="rId16"/>
    </p:embeddedFont>
    <p:embeddedFont>
      <p:font typeface="Trebuchet MS" panose="020B0603020202020204" pitchFamily="34" charset="0"/>
      <p:regular r:id="rId17"/>
      <p:bold r:id="rId18"/>
      <p:italic r:id="rId19"/>
      <p:boldItalic r:id="rId20"/>
    </p:embeddedFont>
    <p:embeddedFont>
      <p:font typeface="Wingdings 3" panose="05040102010807070707" pitchFamily="18" charset="2"/>
      <p:regular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51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0601" y="3606801"/>
            <a:ext cx="11650404" cy="2469453"/>
          </a:xfrm>
        </p:spPr>
        <p:txBody>
          <a:bodyPr anchor="b">
            <a:noAutofit/>
          </a:bodyPr>
          <a:lstStyle>
            <a:lvl1pPr algn="r">
              <a:defRPr sz="8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0601" y="6076250"/>
            <a:ext cx="11650404" cy="164534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881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486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4051301"/>
            <a:ext cx="12895002" cy="2739872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1290600"/>
          </a:xfrm>
        </p:spPr>
        <p:txBody>
          <a:bodyPr anchor="t"/>
          <a:lstStyle>
            <a:lvl1pPr marL="0" indent="0" algn="l">
              <a:buNone/>
              <a:defRPr sz="3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425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2" y="3240884"/>
            <a:ext cx="6276053" cy="58211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4955" y="3240884"/>
            <a:ext cx="6276051" cy="582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40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618" y="3241475"/>
            <a:ext cx="6278435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3618" y="4105868"/>
            <a:ext cx="6278435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32575" y="3241475"/>
            <a:ext cx="627842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32577" y="4105868"/>
            <a:ext cx="6278426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7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983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970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2247906"/>
            <a:ext cx="5781792" cy="1917699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0692" y="772387"/>
            <a:ext cx="6770312" cy="828965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1" y="4165604"/>
            <a:ext cx="5781792" cy="3876674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595" indent="0">
              <a:buNone/>
              <a:defRPr sz="2100"/>
            </a:lvl2pPr>
            <a:lvl3pPr marL="1371189" indent="0">
              <a:buNone/>
              <a:defRPr sz="1800"/>
            </a:lvl3pPr>
            <a:lvl4pPr marL="2056784" indent="0">
              <a:buNone/>
              <a:defRPr sz="1500"/>
            </a:lvl4pPr>
            <a:lvl5pPr marL="2742377" indent="0">
              <a:buNone/>
              <a:defRPr sz="1500"/>
            </a:lvl5pPr>
            <a:lvl6pPr marL="3427971" indent="0">
              <a:buNone/>
              <a:defRPr sz="1500"/>
            </a:lvl6pPr>
            <a:lvl7pPr marL="4113566" indent="0">
              <a:buNone/>
              <a:defRPr sz="1500"/>
            </a:lvl7pPr>
            <a:lvl8pPr marL="4799160" indent="0">
              <a:buNone/>
              <a:defRPr sz="1500"/>
            </a:lvl8pPr>
            <a:lvl9pPr marL="5484755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06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2" y="7200900"/>
            <a:ext cx="12895001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6001" y="914400"/>
            <a:ext cx="12895002" cy="576857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2" y="8051007"/>
            <a:ext cx="12895001" cy="101103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359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914400"/>
            <a:ext cx="12895002" cy="51054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26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49209" y="5448300"/>
            <a:ext cx="10836786" cy="5715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270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0684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2897982"/>
            <a:ext cx="12895002" cy="3893190"/>
          </a:xfrm>
        </p:spPr>
        <p:txBody>
          <a:bodyPr anchor="b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9550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08354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914400"/>
            <a:ext cx="12882305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accent1"/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452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496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951510" y="914399"/>
            <a:ext cx="1957115" cy="787717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6003" y="914400"/>
            <a:ext cx="10590225" cy="7877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631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1" y="3240884"/>
            <a:ext cx="12895002" cy="582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949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</p:sldLayoutIdLst>
  <p:txStyles>
    <p:titleStyle>
      <a:lvl1pPr algn="l" defTabSz="685800" rtl="0" eaLnBrk="1" latinLnBrk="0" hangingPunct="1">
        <a:spcBef>
          <a:spcPct val="0"/>
        </a:spcBef>
        <a:buNone/>
        <a:defRPr sz="54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636E19-7D2B-1BBD-8DE9-B18AE144D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490024"/>
              </p:ext>
            </p:extLst>
          </p:nvPr>
        </p:nvGraphicFramePr>
        <p:xfrm>
          <a:off x="3429000" y="3695700"/>
          <a:ext cx="76962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9600">
                  <a:extLst>
                    <a:ext uri="{9D8B030D-6E8A-4147-A177-3AD203B41FA5}">
                      <a16:colId xmlns:a16="http://schemas.microsoft.com/office/drawing/2014/main" val="2968652794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3266955416"/>
                    </a:ext>
                  </a:extLst>
                </a:gridCol>
              </a:tblGrid>
              <a:tr h="256540">
                <a:tc>
                  <a:txBody>
                    <a:bodyPr/>
                    <a:lstStyle/>
                    <a:p>
                      <a:r>
                        <a:rPr lang="en-US" dirty="0"/>
                        <a:t>Name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847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Agasthya Samyak </a:t>
                      </a:r>
                      <a:r>
                        <a:rPr lang="en-IN" sz="27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Jnan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02JST22UCS006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306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Jayanth 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02JST22UCS043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957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Arvind Ningombam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02JST22US017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40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Prajwal T 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01JST21CS099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78317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295ACFB-F193-F21A-6EFA-4A0D7F9CBEAC}"/>
              </a:ext>
            </a:extLst>
          </p:cNvPr>
          <p:cNvSpPr txBox="1"/>
          <p:nvPr/>
        </p:nvSpPr>
        <p:spPr>
          <a:xfrm>
            <a:off x="914400" y="1104900"/>
            <a:ext cx="12268200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50" dirty="0">
                <a:latin typeface="Lato Bold" panose="020F0502020204030203" charset="0"/>
                <a:ea typeface="Lato Bold" panose="020F0502020204030203" charset="0"/>
                <a:cs typeface="Lato Bold" panose="020F0502020204030203" charset="0"/>
              </a:rPr>
              <a:t>Thermal Foot Analysis for Prediction of DPN using ML</a:t>
            </a:r>
            <a:endParaRPr lang="en-IN" sz="5550" dirty="0">
              <a:latin typeface="Lato Bold" panose="020F0502020204030203" charset="0"/>
              <a:ea typeface="Lato Bold" panose="020F0502020204030203" charset="0"/>
              <a:cs typeface="Lato Bold" panose="020F0502020204030203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D97975-480D-DA0A-B745-ADCCBF4CE354}"/>
              </a:ext>
            </a:extLst>
          </p:cNvPr>
          <p:cNvSpPr txBox="1"/>
          <p:nvPr/>
        </p:nvSpPr>
        <p:spPr>
          <a:xfrm>
            <a:off x="6019800" y="6896100"/>
            <a:ext cx="3851413" cy="1951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5016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2000" b="1" i="0" u="none" strike="noStrike" cap="none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Under the guidance of</a:t>
            </a:r>
            <a:endParaRPr lang="en-US" sz="2000" b="0" i="0" u="none" strike="noStrike" cap="none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lang="en-US" sz="2000" b="0" i="0" u="none" strike="noStrike" cap="none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700" marR="5080" lvl="0" indent="-63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</a:t>
            </a:r>
            <a:r>
              <a:rPr lang="en-US" sz="2000" b="0" i="0" u="none" strike="noStrike" cap="none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 </a:t>
            </a:r>
            <a:r>
              <a:rPr lang="en-US"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Amaresh A M</a:t>
            </a:r>
            <a:endParaRPr lang="en-US" sz="2000" b="0" i="0" u="none" strike="noStrike" cap="none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700" marR="5080" lvl="0" indent="-63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2000" b="0" i="0" u="none" strike="noStrike" cap="none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Assistant Professor </a:t>
            </a:r>
          </a:p>
          <a:p>
            <a:pPr marL="12700" marR="5080" lvl="0" indent="-63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2000" b="0" i="0" u="none" strike="noStrike" cap="none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CS&amp;E </a:t>
            </a:r>
          </a:p>
          <a:p>
            <a:pPr marL="12700" marR="5080" lvl="0" indent="-63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2000" b="0" i="0" u="none" strike="noStrike" cap="none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SJCE, JSS STU Mysuru</a:t>
            </a:r>
          </a:p>
        </p:txBody>
      </p:sp>
    </p:spTree>
    <p:extLst>
      <p:ext uri="{BB962C8B-B14F-4D97-AF65-F5344CB8AC3E}">
        <p14:creationId xmlns:p14="http://schemas.microsoft.com/office/powerpoint/2010/main" val="3012386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295400" y="2324100"/>
            <a:ext cx="7088238" cy="92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 dirty="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Introduction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95400" y="3578123"/>
            <a:ext cx="10210800" cy="4060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Diabetes mellitus is a chronic metabolic disorder affecting millions worldwide.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5400" y="4804315"/>
            <a:ext cx="14249400" cy="4060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One of its serious complications is diabetic peripheral neuropathy, which can lead to foot ulcers and amputations.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5400" y="6030506"/>
            <a:ext cx="12649200" cy="4060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Early identification of abnormal foot conditions is crucial to prevent severe outcomes.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5400" y="7256707"/>
            <a:ext cx="14706600" cy="4060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Infrared thermal imaging provides a non-invasive, contactless, and safe method to observe foot temperature patterns.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8AA0C8-912F-6DEB-6831-67709A174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9080" y="0"/>
            <a:ext cx="2924175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C5680CE0-5E6A-C59E-C24B-F1AB7898421B}"/>
              </a:ext>
            </a:extLst>
          </p:cNvPr>
          <p:cNvSpPr txBox="1"/>
          <p:nvPr/>
        </p:nvSpPr>
        <p:spPr>
          <a:xfrm>
            <a:off x="992238" y="2464889"/>
            <a:ext cx="9828162" cy="815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 dirty="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Motivation and Project Focus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AABD0C5-C7D5-B448-A9C5-F452F80C2BF3}"/>
              </a:ext>
            </a:extLst>
          </p:cNvPr>
          <p:cNvSpPr txBox="1"/>
          <p:nvPr/>
        </p:nvSpPr>
        <p:spPr>
          <a:xfrm>
            <a:off x="992238" y="4389091"/>
            <a:ext cx="16303523" cy="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3562"/>
              </a:lnSpc>
              <a:buFont typeface="Arial" panose="020B0604020202020204" pitchFamily="34" charset="0"/>
              <a:buChar char="•"/>
            </a:pPr>
            <a:r>
              <a:rPr lang="en-US" sz="2187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Neuropathic changes often manifest as thermal asymmetry and hotspots in thermal foot images.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D1F7D42-8A7E-3B66-0E10-B6CF149CDAAF}"/>
              </a:ext>
            </a:extLst>
          </p:cNvPr>
          <p:cNvSpPr txBox="1"/>
          <p:nvPr/>
        </p:nvSpPr>
        <p:spPr>
          <a:xfrm>
            <a:off x="992238" y="5161655"/>
            <a:ext cx="16303523" cy="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3562"/>
              </a:lnSpc>
              <a:buFont typeface="Arial" panose="020B0604020202020204" pitchFamily="34" charset="0"/>
              <a:buChar char="•"/>
            </a:pPr>
            <a:r>
              <a:rPr lang="en-US" sz="2187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Manual interpretation of thermal images is subjective and requires expert knowledge.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12E7F2C-17AF-0105-9600-9E9CF3DDDECE}"/>
              </a:ext>
            </a:extLst>
          </p:cNvPr>
          <p:cNvSpPr txBox="1"/>
          <p:nvPr/>
        </p:nvSpPr>
        <p:spPr>
          <a:xfrm>
            <a:off x="992238" y="5934227"/>
            <a:ext cx="16303523" cy="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3562"/>
              </a:lnSpc>
              <a:buFont typeface="Arial" panose="020B0604020202020204" pitchFamily="34" charset="0"/>
              <a:buChar char="•"/>
            </a:pPr>
            <a:r>
              <a:rPr lang="en-US" sz="2187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Machine learning and deep learning can automate thermal pattern analysis.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0326DCF-ADE8-E4C2-343D-339327BB585F}"/>
              </a:ext>
            </a:extLst>
          </p:cNvPr>
          <p:cNvSpPr txBox="1"/>
          <p:nvPr/>
        </p:nvSpPr>
        <p:spPr>
          <a:xfrm>
            <a:off x="992238" y="6706791"/>
            <a:ext cx="16303523" cy="406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3562"/>
              </a:lnSpc>
              <a:buFont typeface="Arial" panose="020B0604020202020204" pitchFamily="34" charset="0"/>
              <a:buChar char="•"/>
            </a:pPr>
            <a:r>
              <a:rPr lang="en-US" sz="2187" dirty="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This project focuses on risk classification (Low / Moderate / High), not medical diagnosis.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E57E13-AEAA-C9D0-6AB4-8CCDB42C88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4775" y="34787"/>
            <a:ext cx="292417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938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641004" y="484737"/>
            <a:ext cx="7496623" cy="591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56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Literature Review: Existing Research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641004" y="1442447"/>
            <a:ext cx="10932766" cy="7841752"/>
          </a:xfrm>
          <a:custGeom>
            <a:avLst/>
            <a:gdLst/>
            <a:ahLst/>
            <a:cxnLst/>
            <a:rect l="l" t="t" r="r" b="b"/>
            <a:pathLst>
              <a:path w="10932766" h="7841752">
                <a:moveTo>
                  <a:pt x="0" y="0"/>
                </a:moveTo>
                <a:lnTo>
                  <a:pt x="10932766" y="0"/>
                </a:lnTo>
                <a:lnTo>
                  <a:pt x="10932766" y="7841751"/>
                </a:lnTo>
                <a:lnTo>
                  <a:pt x="0" y="78417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" r="-25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B59F31-DEB8-6076-DDA0-E96FEA7999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4775" y="34787"/>
            <a:ext cx="2924175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92238" y="2575027"/>
            <a:ext cx="7588748" cy="92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Identified Research Gap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1098499" y="4074909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6" y="0"/>
                </a:lnTo>
                <a:lnTo>
                  <a:pt x="425206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888" r="-88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1913630" y="4047087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Risk Stratification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13630" y="4583906"/>
            <a:ext cx="7053110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Most existing works focus on binary diagnosis, not risk stratification.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9427369" y="4074909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5" y="0"/>
                </a:lnTo>
                <a:lnTo>
                  <a:pt x="425205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888" r="-88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0242499" y="4047087"/>
            <a:ext cx="3853310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CNN Output Integration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42499" y="4583906"/>
            <a:ext cx="7053262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Limited integration of CNN outputs with global thermal statistical features.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1098499" y="6162227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6" y="0"/>
                </a:lnTo>
                <a:lnTo>
                  <a:pt x="425206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888" r="-88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1913630" y="6134395"/>
            <a:ext cx="5094237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Lightweight CNN Benchmarking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13630" y="6671224"/>
            <a:ext cx="7053110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Few studies benchmark lightweight CNNs for thermal foot images.</a:t>
            </a:r>
          </a:p>
        </p:txBody>
      </p:sp>
      <p:sp>
        <p:nvSpPr>
          <p:cNvPr id="16" name="Freeform 16" descr="preencoded.png"/>
          <p:cNvSpPr/>
          <p:nvPr/>
        </p:nvSpPr>
        <p:spPr>
          <a:xfrm>
            <a:off x="9427369" y="6162227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5" y="0"/>
                </a:lnTo>
                <a:lnTo>
                  <a:pt x="425205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888" r="-88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10242499" y="6134395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Project Focus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42499" y="6671224"/>
            <a:ext cx="7053262" cy="1002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This project addresses these gaps through a hybrid, risk-based framework.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7F68E8F-782C-FD5B-FB9E-7B3CFAD7E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3825" y="0"/>
            <a:ext cx="2924175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92238" y="2603602"/>
            <a:ext cx="16303523" cy="1810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System Requirements and Analysis: Functional Requirements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4885430"/>
            <a:ext cx="16303523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Load and preprocess thermal foot images.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5438184"/>
            <a:ext cx="16303523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Perform data augmentation to expand dataset and improve generalization.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5990930"/>
            <a:ext cx="16303523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Train CNN-based binary classifiers.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6543675"/>
            <a:ext cx="16303523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Extract global thermal features from images based on medical thermography methods.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7096420"/>
            <a:ext cx="16303523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Generate risk scores based on classifier output and global thermal features and classify risk levels.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D0FFE6-E45A-6655-FAC3-CFAADEB0F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3825" y="0"/>
            <a:ext cx="2924175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92238" y="2217239"/>
            <a:ext cx="9561462" cy="92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Non-Functional Requirements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830984"/>
            <a:ext cx="4456214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Reliability &amp; Reproducibility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4481217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High reliability and reproducibility of results.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99397" y="3830984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Efficient Computation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99397" y="4481217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Efficient computation suitable for limited resources.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5868591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Modular &amp; Scalable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6518824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Modular and scalable system design.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99397" y="5868591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Validity &amp; Ethics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99397" y="6518824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Validation of outputs for medical relevance.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88C8B2F-86FE-6CCD-5504-FF08277E0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3825" y="0"/>
            <a:ext cx="2924175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92238" y="1894132"/>
            <a:ext cx="16303523" cy="1810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Tools and Technologies Used: Software and Frameworks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87476" y="4266457"/>
            <a:ext cx="16313048" cy="4093073"/>
            <a:chOff x="0" y="0"/>
            <a:chExt cx="21750731" cy="545743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750782" cy="5457444"/>
            </a:xfrm>
            <a:custGeom>
              <a:avLst/>
              <a:gdLst/>
              <a:ahLst/>
              <a:cxnLst/>
              <a:rect l="l" t="t" r="r" b="b"/>
              <a:pathLst>
                <a:path w="21750782" h="5457444">
                  <a:moveTo>
                    <a:pt x="0" y="63119"/>
                  </a:moveTo>
                  <a:cubicBezTo>
                    <a:pt x="0" y="28194"/>
                    <a:pt x="28321" y="0"/>
                    <a:pt x="63246" y="0"/>
                  </a:cubicBezTo>
                  <a:lnTo>
                    <a:pt x="21687537" y="0"/>
                  </a:lnTo>
                  <a:lnTo>
                    <a:pt x="21687537" y="6350"/>
                  </a:lnTo>
                  <a:lnTo>
                    <a:pt x="21687537" y="0"/>
                  </a:lnTo>
                  <a:cubicBezTo>
                    <a:pt x="21722462" y="0"/>
                    <a:pt x="21750782" y="28194"/>
                    <a:pt x="21750782" y="63119"/>
                  </a:cubicBezTo>
                  <a:lnTo>
                    <a:pt x="21744432" y="63119"/>
                  </a:lnTo>
                  <a:lnTo>
                    <a:pt x="21750782" y="63119"/>
                  </a:lnTo>
                  <a:lnTo>
                    <a:pt x="21750782" y="5394325"/>
                  </a:lnTo>
                  <a:lnTo>
                    <a:pt x="21744432" y="5394325"/>
                  </a:lnTo>
                  <a:lnTo>
                    <a:pt x="21750782" y="5394325"/>
                  </a:lnTo>
                  <a:cubicBezTo>
                    <a:pt x="21750782" y="5429123"/>
                    <a:pt x="21722462" y="5457444"/>
                    <a:pt x="21687537" y="5457444"/>
                  </a:cubicBezTo>
                  <a:lnTo>
                    <a:pt x="21687537" y="5451094"/>
                  </a:lnTo>
                  <a:lnTo>
                    <a:pt x="21687537" y="5457444"/>
                  </a:lnTo>
                  <a:lnTo>
                    <a:pt x="63246" y="5457444"/>
                  </a:lnTo>
                  <a:lnTo>
                    <a:pt x="63246" y="5451094"/>
                  </a:lnTo>
                  <a:lnTo>
                    <a:pt x="63246" y="5457444"/>
                  </a:lnTo>
                  <a:cubicBezTo>
                    <a:pt x="28321" y="5457444"/>
                    <a:pt x="0" y="5429250"/>
                    <a:pt x="0" y="5394325"/>
                  </a:cubicBezTo>
                  <a:lnTo>
                    <a:pt x="0" y="63119"/>
                  </a:lnTo>
                  <a:lnTo>
                    <a:pt x="6350" y="63119"/>
                  </a:lnTo>
                  <a:lnTo>
                    <a:pt x="0" y="63119"/>
                  </a:lnTo>
                  <a:moveTo>
                    <a:pt x="12700" y="63119"/>
                  </a:moveTo>
                  <a:lnTo>
                    <a:pt x="12700" y="5394325"/>
                  </a:lnTo>
                  <a:lnTo>
                    <a:pt x="6350" y="5394325"/>
                  </a:lnTo>
                  <a:lnTo>
                    <a:pt x="12700" y="5394325"/>
                  </a:lnTo>
                  <a:cubicBezTo>
                    <a:pt x="12700" y="5422138"/>
                    <a:pt x="35306" y="5444744"/>
                    <a:pt x="63246" y="5444744"/>
                  </a:cubicBezTo>
                  <a:lnTo>
                    <a:pt x="21687537" y="5444744"/>
                  </a:lnTo>
                  <a:cubicBezTo>
                    <a:pt x="21715476" y="5444744"/>
                    <a:pt x="21738082" y="5422138"/>
                    <a:pt x="21738082" y="5394325"/>
                  </a:cubicBezTo>
                  <a:lnTo>
                    <a:pt x="21738082" y="63119"/>
                  </a:lnTo>
                  <a:cubicBezTo>
                    <a:pt x="21738082" y="35306"/>
                    <a:pt x="21715476" y="12700"/>
                    <a:pt x="21687537" y="12700"/>
                  </a:cubicBezTo>
                  <a:lnTo>
                    <a:pt x="63246" y="12700"/>
                  </a:lnTo>
                  <a:lnTo>
                    <a:pt x="63246" y="6350"/>
                  </a:lnTo>
                  <a:lnTo>
                    <a:pt x="63246" y="12700"/>
                  </a:lnTo>
                  <a:cubicBezTo>
                    <a:pt x="35306" y="12700"/>
                    <a:pt x="12700" y="35306"/>
                    <a:pt x="12700" y="63119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1763" y="4280745"/>
            <a:ext cx="16284473" cy="812902"/>
            <a:chOff x="0" y="0"/>
            <a:chExt cx="21712631" cy="10838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12682" cy="1083818"/>
            </a:xfrm>
            <a:custGeom>
              <a:avLst/>
              <a:gdLst/>
              <a:ahLst/>
              <a:cxnLst/>
              <a:rect l="l" t="t" r="r" b="b"/>
              <a:pathLst>
                <a:path w="21712682" h="1083818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85284" y="4365127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Programming Language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32284" y="4365127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Python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01763" y="5093646"/>
            <a:ext cx="16284473" cy="812902"/>
            <a:chOff x="0" y="0"/>
            <a:chExt cx="21712631" cy="108386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712682" cy="1083818"/>
            </a:xfrm>
            <a:custGeom>
              <a:avLst/>
              <a:gdLst/>
              <a:ahLst/>
              <a:cxnLst/>
              <a:rect l="l" t="t" r="r" b="b"/>
              <a:pathLst>
                <a:path w="21712682" h="1083818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85284" y="5178028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Deep Learning Framework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32284" y="5178028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TensorFlow / Keras 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01763" y="5906538"/>
            <a:ext cx="16284473" cy="812902"/>
            <a:chOff x="0" y="0"/>
            <a:chExt cx="21712631" cy="108386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712682" cy="1083818"/>
            </a:xfrm>
            <a:custGeom>
              <a:avLst/>
              <a:gdLst/>
              <a:ahLst/>
              <a:cxnLst/>
              <a:rect l="l" t="t" r="r" b="b"/>
              <a:pathLst>
                <a:path w="21712682" h="1083818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285284" y="5990930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Image Processing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32284" y="5990930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NumPy, OpenCV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01763" y="6719440"/>
            <a:ext cx="16284473" cy="812902"/>
            <a:chOff x="0" y="0"/>
            <a:chExt cx="21712631" cy="108386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712682" cy="1083818"/>
            </a:xfrm>
            <a:custGeom>
              <a:avLst/>
              <a:gdLst/>
              <a:ahLst/>
              <a:cxnLst/>
              <a:rect l="l" t="t" r="r" b="b"/>
              <a:pathLst>
                <a:path w="21712682" h="1083818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285284" y="6803822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Visualization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32284" y="6803822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Matplotlib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01763" y="7532341"/>
            <a:ext cx="16284473" cy="812902"/>
            <a:chOff x="0" y="0"/>
            <a:chExt cx="21712631" cy="108386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712682" cy="1083818"/>
            </a:xfrm>
            <a:custGeom>
              <a:avLst/>
              <a:gdLst/>
              <a:ahLst/>
              <a:cxnLst/>
              <a:rect l="l" t="t" r="r" b="b"/>
              <a:pathLst>
                <a:path w="21712682" h="1083818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285284" y="7616723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Model Evaluation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432284" y="7616723"/>
            <a:ext cx="7570441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Scikit-learn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AF61B2C-4001-008E-08B1-D3A01C170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3825" y="0"/>
            <a:ext cx="2924175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92238" y="2204885"/>
            <a:ext cx="7088238" cy="92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Models and Platform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3818630"/>
            <a:ext cx="4894955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Pretrained CNN Architectures: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4468863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EfficientNet-B0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5021609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MobileNetV2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99397" y="3818630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Training Platform: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99397" y="4468863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Google Colab, VS Code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99397" y="5282203"/>
            <a:ext cx="3544043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Dataset Handling: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99397" y="5932437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Directory-based generators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99397" y="6745786"/>
            <a:ext cx="4113009" cy="461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Experiment Management: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08922" y="7396010"/>
            <a:ext cx="7805890" cy="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Versioned model saving and experiment logging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3E11EBF-045C-6CDA-4644-5A430DC31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3825" y="8283"/>
            <a:ext cx="2924175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959491" y="734768"/>
            <a:ext cx="6853533" cy="875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87"/>
              </a:lnSpc>
            </a:pPr>
            <a:r>
              <a:rPr lang="en-US" sz="5374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System Design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959491" y="2158756"/>
            <a:ext cx="14766579" cy="3743325"/>
          </a:xfrm>
          <a:custGeom>
            <a:avLst/>
            <a:gdLst/>
            <a:ahLst/>
            <a:cxnLst/>
            <a:rect l="l" t="t" r="r" b="b"/>
            <a:pathLst>
              <a:path w="14766579" h="3743325">
                <a:moveTo>
                  <a:pt x="0" y="0"/>
                </a:moveTo>
                <a:lnTo>
                  <a:pt x="14766579" y="0"/>
                </a:lnTo>
                <a:lnTo>
                  <a:pt x="14766579" y="3743325"/>
                </a:lnTo>
                <a:lnTo>
                  <a:pt x="0" y="37433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" b="-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959491" y="6862172"/>
            <a:ext cx="16369008" cy="533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CNNs learn complex spatial thermal patterns.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59491" y="7396610"/>
            <a:ext cx="16369008" cy="533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Global thermal features add physiological interpretability.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9491" y="7931048"/>
            <a:ext cx="16369008" cy="533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Hybrid design improves robustness.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9491" y="8465496"/>
            <a:ext cx="16369008" cy="533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Risk-based output avoids clinical overclaiming.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9491" y="8999934"/>
            <a:ext cx="16369008" cy="533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437"/>
              </a:lnSpc>
              <a:buFont typeface="Arial"/>
              <a:buChar char="•"/>
            </a:pPr>
            <a:r>
              <a:rPr lang="en-US" sz="2125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Modular pipeline enables easy extension.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C93CC79-17F5-3B7B-DCA8-4F9E2AE6D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53886" y="0"/>
            <a:ext cx="2924175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7D14AE3B-F4E5-37B3-94D7-9426547EBFBE}"/>
              </a:ext>
            </a:extLst>
          </p:cNvPr>
          <p:cNvSpPr txBox="1"/>
          <p:nvPr/>
        </p:nvSpPr>
        <p:spPr>
          <a:xfrm>
            <a:off x="794890" y="1546193"/>
            <a:ext cx="17340710" cy="659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1" dirty="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System Implementation: Image Processing and CNN Model Training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F9AFB2-F875-1713-68A6-CAD5A5B962C9}"/>
              </a:ext>
            </a:extLst>
          </p:cNvPr>
          <p:cNvSpPr txBox="1"/>
          <p:nvPr/>
        </p:nvSpPr>
        <p:spPr>
          <a:xfrm>
            <a:off x="761760" y="2552700"/>
            <a:ext cx="14445110" cy="47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Thermal images are batched, shuffled, resized to 224x224, and normalized before training and validation.</a:t>
            </a:r>
            <a:endParaRPr lang="en-US" sz="1800" dirty="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2BC964-9EDC-E575-D493-7D37FC639A8F}"/>
              </a:ext>
            </a:extLst>
          </p:cNvPr>
          <p:cNvSpPr txBox="1"/>
          <p:nvPr/>
        </p:nvSpPr>
        <p:spPr>
          <a:xfrm>
            <a:off x="761760" y="3195070"/>
            <a:ext cx="14445110" cy="47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sz="1800" dirty="0">
                <a:solidFill>
                  <a:srgbClr val="4A4A4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The training is done in two stages: feature extraction and fine tuning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DCA7EC-119F-8B29-3C38-3B851E2FC79B}"/>
              </a:ext>
            </a:extLst>
          </p:cNvPr>
          <p:cNvSpPr txBox="1"/>
          <p:nvPr/>
        </p:nvSpPr>
        <p:spPr>
          <a:xfrm>
            <a:off x="761760" y="3837440"/>
            <a:ext cx="14445110" cy="47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sz="1800" dirty="0">
                <a:solidFill>
                  <a:srgbClr val="4A4A4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Pre trained layers are initially frozen to stabilize learning.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8B4948-E909-F6B0-C64B-8906D17ED63B}"/>
              </a:ext>
            </a:extLst>
          </p:cNvPr>
          <p:cNvSpPr txBox="1"/>
          <p:nvPr/>
        </p:nvSpPr>
        <p:spPr>
          <a:xfrm>
            <a:off x="761760" y="4393253"/>
            <a:ext cx="14445110" cy="47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sz="1800" dirty="0">
                <a:solidFill>
                  <a:srgbClr val="4A4A4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Selected deeper layers unfrozen for fine tuning and better generalization.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3E4DADA-898E-743B-82BA-A9B506793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6101404"/>
            <a:ext cx="7696867" cy="293395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BDF89BF-0207-62B6-F74B-8A57D1F08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0" y="5930039"/>
            <a:ext cx="8991600" cy="327668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53649EF-B9A5-5829-6B25-0B8D5AFB92AC}"/>
              </a:ext>
            </a:extLst>
          </p:cNvPr>
          <p:cNvSpPr txBox="1"/>
          <p:nvPr/>
        </p:nvSpPr>
        <p:spPr>
          <a:xfrm>
            <a:off x="761760" y="4946651"/>
            <a:ext cx="14445110" cy="47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sz="1800" dirty="0">
                <a:solidFill>
                  <a:srgbClr val="4A4A4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Performance of various models are evaluated using multiple metrics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52F2A2-9D64-6A8A-42D6-B4CDFE4D1A42}"/>
              </a:ext>
            </a:extLst>
          </p:cNvPr>
          <p:cNvSpPr txBox="1"/>
          <p:nvPr/>
        </p:nvSpPr>
        <p:spPr>
          <a:xfrm>
            <a:off x="1447800" y="9410700"/>
            <a:ext cx="662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Comparison of performance of different Pre-trained CNN backbones.</a:t>
            </a:r>
            <a:endParaRPr lang="en-IN" i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1EB159-9882-88DB-2475-3CD45F6294A9}"/>
              </a:ext>
            </a:extLst>
          </p:cNvPr>
          <p:cNvSpPr txBox="1"/>
          <p:nvPr/>
        </p:nvSpPr>
        <p:spPr>
          <a:xfrm>
            <a:off x="9465245" y="9376125"/>
            <a:ext cx="792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Accuracy Plots of Training and Fine Tuning of MobileNetV2 based Classifier Model.</a:t>
            </a:r>
            <a:endParaRPr lang="en-IN" i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F90628-F818-7FC6-964B-C5BFA4352E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53886" y="0"/>
            <a:ext cx="292417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91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1A3CC3E7-1B72-5850-E04E-AF14AF2CF03F}"/>
              </a:ext>
            </a:extLst>
          </p:cNvPr>
          <p:cNvSpPr txBox="1"/>
          <p:nvPr/>
        </p:nvSpPr>
        <p:spPr>
          <a:xfrm>
            <a:off x="1066800" y="2552700"/>
            <a:ext cx="17340710" cy="659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1" dirty="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System Implementation: Dataset Risk Labelling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C8283E-BB8D-CFDA-5BB2-95EB0C2F57E5}"/>
              </a:ext>
            </a:extLst>
          </p:cNvPr>
          <p:cNvSpPr txBox="1"/>
          <p:nvPr/>
        </p:nvSpPr>
        <p:spPr>
          <a:xfrm>
            <a:off x="881510" y="3747192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dirty="0"/>
              <a:t>Risk labels generated using an unsupervised thermal analysis approach</a:t>
            </a:r>
            <a:endParaRPr lang="en-US" sz="1800" dirty="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18F5C9-89D4-12AD-CA10-2C97546657F4}"/>
              </a:ext>
            </a:extLst>
          </p:cNvPr>
          <p:cNvSpPr txBox="1"/>
          <p:nvPr/>
        </p:nvSpPr>
        <p:spPr>
          <a:xfrm>
            <a:off x="881510" y="4281888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/>
              <a:t>Thermal features extracted from the HSV (V-channel) of foot thermograms</a:t>
            </a:r>
            <a:endParaRPr lang="en-US" sz="1800" dirty="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0D24BB-B4C0-63E0-930D-5B04C146F54A}"/>
              </a:ext>
            </a:extLst>
          </p:cNvPr>
          <p:cNvSpPr txBox="1"/>
          <p:nvPr/>
        </p:nvSpPr>
        <p:spPr>
          <a:xfrm>
            <a:off x="864945" y="4816584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dirty="0"/>
              <a:t>Computed features: mean temperature, standard deviation, entropy, and left–right asymmetry</a:t>
            </a:r>
            <a:endParaRPr lang="en-US" sz="1800" dirty="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E07370-33E1-C10B-E6FA-9548A81128A0}"/>
              </a:ext>
            </a:extLst>
          </p:cNvPr>
          <p:cNvSpPr txBox="1"/>
          <p:nvPr/>
        </p:nvSpPr>
        <p:spPr>
          <a:xfrm>
            <a:off x="894762" y="5351280"/>
            <a:ext cx="14445110" cy="936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dirty="0"/>
              <a:t>Thermal Risk Score (TRS) calculated to quantify abnormal heat patterns</a:t>
            </a:r>
          </a:p>
          <a:p>
            <a:pPr marL="162123" lvl="1">
              <a:lnSpc>
                <a:spcPts val="3455"/>
              </a:lnSpc>
            </a:pPr>
            <a:r>
              <a:rPr lang="en-US" sz="1800" dirty="0">
                <a:solidFill>
                  <a:srgbClr val="4A4A45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                                                          </a:t>
            </a:r>
            <a:r>
              <a:rPr lang="en-IN" dirty="0"/>
              <a:t>TRS = 0.4×Mean + 0.3×Std + 0.3×Entropy</a:t>
            </a:r>
            <a:endParaRPr lang="en-US" sz="1800" dirty="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0F09D5-434E-6C0A-E922-1079BEBDE219}"/>
              </a:ext>
            </a:extLst>
          </p:cNvPr>
          <p:cNvSpPr txBox="1"/>
          <p:nvPr/>
        </p:nvSpPr>
        <p:spPr>
          <a:xfrm>
            <a:off x="881510" y="6334816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dirty="0"/>
              <a:t>K-Means clustering (k = 3) applied on normalized thermal features</a:t>
            </a:r>
            <a:endParaRPr lang="en-US" sz="1800" dirty="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193E3D-352C-46FA-DC71-9899D2E3D8F6}"/>
              </a:ext>
            </a:extLst>
          </p:cNvPr>
          <p:cNvSpPr txBox="1"/>
          <p:nvPr/>
        </p:nvSpPr>
        <p:spPr>
          <a:xfrm>
            <a:off x="898075" y="6869512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dirty="0"/>
              <a:t>Clusters ranked by TRS and labeled as </a:t>
            </a:r>
            <a:r>
              <a:rPr lang="en-US" b="1" dirty="0"/>
              <a:t>Low, Moderate, and High risk</a:t>
            </a:r>
            <a:endParaRPr lang="en-US" sz="1800" dirty="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870F58-8B08-3483-FC28-736EA134E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3886" y="0"/>
            <a:ext cx="292417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40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876E9336-215E-CD78-A745-16F5EAC9BE5F}"/>
              </a:ext>
            </a:extLst>
          </p:cNvPr>
          <p:cNvSpPr txBox="1"/>
          <p:nvPr/>
        </p:nvSpPr>
        <p:spPr>
          <a:xfrm>
            <a:off x="762000" y="2095500"/>
            <a:ext cx="17340710" cy="659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1" dirty="0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XGBOOST-based Risk Modelling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E6C6CB-3E0D-F267-6E52-646AC456F34E}"/>
              </a:ext>
            </a:extLst>
          </p:cNvPr>
          <p:cNvSpPr txBox="1"/>
          <p:nvPr/>
        </p:nvSpPr>
        <p:spPr>
          <a:xfrm>
            <a:off x="576710" y="3289992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dirty="0"/>
              <a:t>XGBoost regressor trained using fused CNN and thermal features</a:t>
            </a:r>
            <a:endParaRPr lang="en-US" dirty="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AC3B25-0B30-7BFA-0905-9992D148FAD8}"/>
              </a:ext>
            </a:extLst>
          </p:cNvPr>
          <p:cNvSpPr txBox="1"/>
          <p:nvPr/>
        </p:nvSpPr>
        <p:spPr>
          <a:xfrm>
            <a:off x="553519" y="3824688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dirty="0"/>
              <a:t>Model predicts neuropathy risk on an ordinal risk scale</a:t>
            </a:r>
            <a:endParaRPr lang="en-US" dirty="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C87866-300C-570C-FAF7-F8773919E7AA}"/>
              </a:ext>
            </a:extLst>
          </p:cNvPr>
          <p:cNvSpPr txBox="1"/>
          <p:nvPr/>
        </p:nvSpPr>
        <p:spPr>
          <a:xfrm>
            <a:off x="553519" y="4376490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IN" dirty="0"/>
              <a:t>Risk interpretation:  0.0–0.5 → Low risk, 0.5–1.5 → Moderate risk,  &gt; 1.5 → High risk</a:t>
            </a:r>
            <a:endParaRPr lang="en-US" dirty="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484B3F-3761-E48C-68BD-9E46C9344F66}"/>
              </a:ext>
            </a:extLst>
          </p:cNvPr>
          <p:cNvSpPr txBox="1"/>
          <p:nvPr/>
        </p:nvSpPr>
        <p:spPr>
          <a:xfrm>
            <a:off x="576710" y="4928292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dirty="0"/>
              <a:t>Dataset used: 21,660 training and 6,330 validation images (27,990 total)</a:t>
            </a:r>
            <a:endParaRPr lang="en-US" dirty="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E81FA8-14BC-8026-0A33-9F155BF178BD}"/>
              </a:ext>
            </a:extLst>
          </p:cNvPr>
          <p:cNvSpPr txBox="1"/>
          <p:nvPr/>
        </p:nvSpPr>
        <p:spPr>
          <a:xfrm>
            <a:off x="556832" y="5462988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dirty="0"/>
              <a:t>Confusion matrix shows strong separation between risk categories</a:t>
            </a:r>
            <a:endParaRPr lang="en-US" dirty="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CC562E-A5F8-3DE9-4E1E-E9A4D70CD0BB}"/>
              </a:ext>
            </a:extLst>
          </p:cNvPr>
          <p:cNvSpPr txBox="1"/>
          <p:nvPr/>
        </p:nvSpPr>
        <p:spPr>
          <a:xfrm>
            <a:off x="576710" y="6031896"/>
            <a:ext cx="14445110" cy="487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246" lvl="1" indent="-162123">
              <a:lnSpc>
                <a:spcPts val="3455"/>
              </a:lnSpc>
              <a:buFont typeface="Arial"/>
              <a:buChar char="•"/>
            </a:pPr>
            <a:r>
              <a:rPr lang="en-US" dirty="0"/>
              <a:t>Minor overlap near boundaries, expected in medical ordinal prediction</a:t>
            </a:r>
            <a:endParaRPr lang="en-US" dirty="0">
              <a:solidFill>
                <a:srgbClr val="4A4A4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F58BC2-DE28-1C3F-0491-7BA858996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510" y="7083787"/>
            <a:ext cx="7346317" cy="21490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818A9F-501D-8AE9-2BB9-BF7FECBAD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7827" y="7160348"/>
            <a:ext cx="8546875" cy="192084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08D6A59-A740-3426-A717-2061DF0FD323}"/>
              </a:ext>
            </a:extLst>
          </p:cNvPr>
          <p:cNvSpPr txBox="1"/>
          <p:nvPr/>
        </p:nvSpPr>
        <p:spPr>
          <a:xfrm>
            <a:off x="2786510" y="9502898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Confusion Matrix</a:t>
            </a:r>
            <a:endParaRPr lang="en-IN" i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50FEF5-FB68-D509-54F0-685036D4D35B}"/>
              </a:ext>
            </a:extLst>
          </p:cNvPr>
          <p:cNvSpPr txBox="1"/>
          <p:nvPr/>
        </p:nvSpPr>
        <p:spPr>
          <a:xfrm>
            <a:off x="10863710" y="9502898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Validation Performance</a:t>
            </a:r>
            <a:endParaRPr lang="en-IN" i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DBB947-4B75-0886-9CF4-CABC80CC3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53886" y="0"/>
            <a:ext cx="292417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77989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</TotalTime>
  <Words>679</Words>
  <Application>Microsoft Office PowerPoint</Application>
  <PresentationFormat>Custom</PresentationFormat>
  <Paragraphs>104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Times New Roman</vt:lpstr>
      <vt:lpstr>Trebuchet MS</vt:lpstr>
      <vt:lpstr>Lato</vt:lpstr>
      <vt:lpstr>Lato Bold</vt:lpstr>
      <vt:lpstr>Arial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airina ningombam</cp:lastModifiedBy>
  <cp:revision>5</cp:revision>
  <dcterms:created xsi:type="dcterms:W3CDTF">2006-08-16T00:00:00Z</dcterms:created>
  <dcterms:modified xsi:type="dcterms:W3CDTF">2026-02-26T12:41:56Z</dcterms:modified>
  <dc:identifier>DAG75FFc_xU</dc:identifier>
</cp:coreProperties>
</file>