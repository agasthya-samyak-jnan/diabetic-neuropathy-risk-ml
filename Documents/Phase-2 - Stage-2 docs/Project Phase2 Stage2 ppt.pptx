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822" r:id="rId1"/>
  </p:sldMasterIdLst>
  <p:sldIdLst>
    <p:sldId id="270" r:id="rId2"/>
    <p:sldId id="256" r:id="rId3"/>
    <p:sldId id="269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6" r:id="rId12"/>
    <p:sldId id="267" r:id="rId13"/>
    <p:sldId id="268" r:id="rId14"/>
    <p:sldId id="272" r:id="rId15"/>
    <p:sldId id="273" r:id="rId16"/>
    <p:sldId id="274" r:id="rId17"/>
  </p:sldIdLst>
  <p:sldSz cx="18288000" cy="10287000"/>
  <p:notesSz cx="6858000" cy="9144000"/>
  <p:embeddedFontLst>
    <p:embeddedFont>
      <p:font typeface="Lato" panose="020F0502020204030203" pitchFamily="34" charset="0"/>
      <p:regular r:id="rId18"/>
      <p:bold r:id="rId19"/>
      <p:italic r:id="rId20"/>
      <p:boldItalic r:id="rId21"/>
    </p:embeddedFont>
    <p:embeddedFont>
      <p:font typeface="Lato Bold" panose="020F0502020204030203" charset="0"/>
      <p:regular r:id="rId22"/>
      <p:bold r:id="rId23"/>
    </p:embeddedFont>
    <p:embeddedFont>
      <p:font typeface="Trebuchet MS" panose="020B0603020202020204" pitchFamily="34" charset="0"/>
      <p:regular r:id="rId24"/>
      <p:bold r:id="rId25"/>
      <p:italic r:id="rId26"/>
      <p:boldItalic r:id="rId27"/>
    </p:embeddedFont>
    <p:embeddedFont>
      <p:font typeface="Wingdings 3" panose="05040102010807070707" pitchFamily="18" charset="2"/>
      <p:regular r:id="rId2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7B581FA-DA80-4600-AB06-37A074560BBD}" v="816" dt="2026-03-25T18:36:27.076"/>
    <p1510:client id="{AC8AE3F1-5895-77BE-0FF7-012C43B0CD8D}" v="16" dt="2026-03-25T18:05:12.692"/>
    <p1510:client id="{B03ED4C3-BE3D-4028-8935-D3EAA3B5C102}" v="38" dt="2026-03-25T18:55:17.9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8.fntdata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M T" userId="f50504b08b6f3d33" providerId="LiveId" clId="{5D1F7783-D6A1-4C7A-81DC-044C58693D50}"/>
    <pc:docChg chg="custSel modSld">
      <pc:chgData name="SHAM T" userId="f50504b08b6f3d33" providerId="LiveId" clId="{5D1F7783-D6A1-4C7A-81DC-044C58693D50}" dt="2026-03-25T19:04:26.506" v="3" actId="1076"/>
      <pc:docMkLst>
        <pc:docMk/>
      </pc:docMkLst>
      <pc:sldChg chg="delSp modSp mod">
        <pc:chgData name="SHAM T" userId="f50504b08b6f3d33" providerId="LiveId" clId="{5D1F7783-D6A1-4C7A-81DC-044C58693D50}" dt="2026-03-25T19:04:26.506" v="3" actId="1076"/>
        <pc:sldMkLst>
          <pc:docMk/>
          <pc:sldMk cId="3522061369" sldId="272"/>
        </pc:sldMkLst>
        <pc:spChg chg="del">
          <ac:chgData name="SHAM T" userId="f50504b08b6f3d33" providerId="LiveId" clId="{5D1F7783-D6A1-4C7A-81DC-044C58693D50}" dt="2026-03-25T19:04:07.811" v="0" actId="478"/>
          <ac:spMkLst>
            <pc:docMk/>
            <pc:sldMk cId="3522061369" sldId="272"/>
            <ac:spMk id="7" creationId="{DB540C2B-DB29-756E-E72B-622E41212FD1}"/>
          </ac:spMkLst>
        </pc:spChg>
        <pc:spChg chg="mod">
          <ac:chgData name="SHAM T" userId="f50504b08b6f3d33" providerId="LiveId" clId="{5D1F7783-D6A1-4C7A-81DC-044C58693D50}" dt="2026-03-25T19:04:18.492" v="1" actId="1076"/>
          <ac:spMkLst>
            <pc:docMk/>
            <pc:sldMk cId="3522061369" sldId="272"/>
            <ac:spMk id="9" creationId="{28C9275D-DB5E-8859-84A0-8E6726135431}"/>
          </ac:spMkLst>
        </pc:spChg>
        <pc:spChg chg="mod">
          <ac:chgData name="SHAM T" userId="f50504b08b6f3d33" providerId="LiveId" clId="{5D1F7783-D6A1-4C7A-81DC-044C58693D50}" dt="2026-03-25T19:04:22.062" v="2" actId="1076"/>
          <ac:spMkLst>
            <pc:docMk/>
            <pc:sldMk cId="3522061369" sldId="272"/>
            <ac:spMk id="11" creationId="{F197B37D-7427-9E2A-012F-870A06EA6EC6}"/>
          </ac:spMkLst>
        </pc:spChg>
        <pc:spChg chg="mod">
          <ac:chgData name="SHAM T" userId="f50504b08b6f3d33" providerId="LiveId" clId="{5D1F7783-D6A1-4C7A-81DC-044C58693D50}" dt="2026-03-25T19:04:26.506" v="3" actId="1076"/>
          <ac:spMkLst>
            <pc:docMk/>
            <pc:sldMk cId="3522061369" sldId="272"/>
            <ac:spMk id="13" creationId="{DC2D2F92-E3CA-7054-1B9F-311F10AC3BA8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12700"/>
            <a:ext cx="18288000" cy="10299701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60601" y="3606801"/>
            <a:ext cx="11650404" cy="2469453"/>
          </a:xfrm>
        </p:spPr>
        <p:txBody>
          <a:bodyPr anchor="b">
            <a:noAutofit/>
          </a:bodyPr>
          <a:lstStyle>
            <a:lvl1pPr algn="r">
              <a:defRPr sz="8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0601" y="6076250"/>
            <a:ext cx="11650404" cy="164534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429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114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800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486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881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486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003" y="4051301"/>
            <a:ext cx="12895002" cy="2739872"/>
          </a:xfrm>
        </p:spPr>
        <p:txBody>
          <a:bodyPr anchor="b"/>
          <a:lstStyle>
            <a:lvl1pPr algn="l">
              <a:defRPr sz="60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6003" y="6791172"/>
            <a:ext cx="12895002" cy="1290600"/>
          </a:xfrm>
        </p:spPr>
        <p:txBody>
          <a:bodyPr anchor="t"/>
          <a:lstStyle>
            <a:lvl1pPr marL="0" indent="0" algn="l">
              <a:buNone/>
              <a:defRPr sz="3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425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16002" y="3240884"/>
            <a:ext cx="6276053" cy="582115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34955" y="3240884"/>
            <a:ext cx="6276051" cy="5821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240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3618" y="3241475"/>
            <a:ext cx="6278435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13618" y="4105868"/>
            <a:ext cx="6278435" cy="4956176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32575" y="3241475"/>
            <a:ext cx="6278427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32577" y="4105868"/>
            <a:ext cx="6278426" cy="4956176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76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001" y="914400"/>
            <a:ext cx="12895002" cy="19812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983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970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001" y="2247906"/>
            <a:ext cx="5781792" cy="1917699"/>
          </a:xfrm>
        </p:spPr>
        <p:txBody>
          <a:bodyPr anchor="b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40692" y="772387"/>
            <a:ext cx="6770312" cy="8289656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16001" y="4165604"/>
            <a:ext cx="5781792" cy="3876674"/>
          </a:xfrm>
        </p:spPr>
        <p:txBody>
          <a:bodyPr>
            <a:normAutofit/>
          </a:bodyPr>
          <a:lstStyle>
            <a:lvl1pPr marL="0" indent="0">
              <a:buNone/>
              <a:defRPr sz="2100"/>
            </a:lvl1pPr>
            <a:lvl2pPr marL="685595" indent="0">
              <a:buNone/>
              <a:defRPr sz="2100"/>
            </a:lvl2pPr>
            <a:lvl3pPr marL="1371189" indent="0">
              <a:buNone/>
              <a:defRPr sz="1800"/>
            </a:lvl3pPr>
            <a:lvl4pPr marL="2056784" indent="0">
              <a:buNone/>
              <a:defRPr sz="1500"/>
            </a:lvl4pPr>
            <a:lvl5pPr marL="2742377" indent="0">
              <a:buNone/>
              <a:defRPr sz="1500"/>
            </a:lvl5pPr>
            <a:lvl6pPr marL="3427971" indent="0">
              <a:buNone/>
              <a:defRPr sz="1500"/>
            </a:lvl6pPr>
            <a:lvl7pPr marL="4113566" indent="0">
              <a:buNone/>
              <a:defRPr sz="1500"/>
            </a:lvl7pPr>
            <a:lvl8pPr marL="4799160" indent="0">
              <a:buNone/>
              <a:defRPr sz="1500"/>
            </a:lvl8pPr>
            <a:lvl9pPr marL="5484755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069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002" y="7200900"/>
            <a:ext cx="12895001" cy="85010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16001" y="914400"/>
            <a:ext cx="12895002" cy="576857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  <a:lvl2pPr marL="685800" indent="0">
              <a:buNone/>
              <a:defRPr sz="2400"/>
            </a:lvl2pPr>
            <a:lvl3pPr marL="1371600" indent="0">
              <a:buNone/>
              <a:defRPr sz="2400"/>
            </a:lvl3pPr>
            <a:lvl4pPr marL="2057400" indent="0">
              <a:buNone/>
              <a:defRPr sz="2400"/>
            </a:lvl4pPr>
            <a:lvl5pPr marL="2743200" indent="0">
              <a:buNone/>
              <a:defRPr sz="2400"/>
            </a:lvl5pPr>
            <a:lvl6pPr marL="3429000" indent="0">
              <a:buNone/>
              <a:defRPr sz="2400"/>
            </a:lvl6pPr>
            <a:lvl7pPr marL="4114800" indent="0">
              <a:buNone/>
              <a:defRPr sz="2400"/>
            </a:lvl7pPr>
            <a:lvl8pPr marL="4800600" indent="0">
              <a:buNone/>
              <a:defRPr sz="2400"/>
            </a:lvl8pPr>
            <a:lvl9pPr marL="5486400" indent="0">
              <a:buNone/>
              <a:defRPr sz="24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16002" y="8051007"/>
            <a:ext cx="12895001" cy="1011036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3591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003" y="914400"/>
            <a:ext cx="12895002" cy="5105400"/>
          </a:xfrm>
        </p:spPr>
        <p:txBody>
          <a:bodyPr anchor="ctr">
            <a:normAutofit/>
          </a:bodyPr>
          <a:lstStyle>
            <a:lvl1pPr algn="l">
              <a:defRPr sz="66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6003" y="6705600"/>
            <a:ext cx="12895002" cy="2356443"/>
          </a:xfrm>
        </p:spPr>
        <p:txBody>
          <a:bodyPr anchor="ctr">
            <a:normAutofit/>
          </a:bodyPr>
          <a:lstStyle>
            <a:lvl1pPr marL="0" indent="0" algn="l">
              <a:buNone/>
              <a:defRPr sz="2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6264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7001" y="914400"/>
            <a:ext cx="12141201" cy="4533900"/>
          </a:xfrm>
        </p:spPr>
        <p:txBody>
          <a:bodyPr anchor="ctr">
            <a:normAutofit/>
          </a:bodyPr>
          <a:lstStyle>
            <a:lvl1pPr algn="l">
              <a:defRPr sz="66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049209" y="5448300"/>
            <a:ext cx="10836786" cy="5715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85800" indent="0">
              <a:buFontTx/>
              <a:buNone/>
              <a:defRPr/>
            </a:lvl2pPr>
            <a:lvl3pPr marL="1371600" indent="0">
              <a:buFontTx/>
              <a:buNone/>
              <a:defRPr/>
            </a:lvl3pPr>
            <a:lvl4pPr marL="2057400" indent="0">
              <a:buFontTx/>
              <a:buNone/>
              <a:defRPr/>
            </a:lvl4pPr>
            <a:lvl5pPr marL="27432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6003" y="6705600"/>
            <a:ext cx="12895002" cy="2356443"/>
          </a:xfrm>
        </p:spPr>
        <p:txBody>
          <a:bodyPr anchor="ctr">
            <a:normAutofit/>
          </a:bodyPr>
          <a:lstStyle>
            <a:lvl1pPr marL="0" indent="0" algn="l">
              <a:buNone/>
              <a:defRPr sz="2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812805" y="1185567"/>
            <a:ext cx="914400" cy="877164"/>
          </a:xfrm>
          <a:prstGeom prst="rect">
            <a:avLst/>
          </a:prstGeom>
        </p:spPr>
        <p:txBody>
          <a:bodyPr vert="horz" lIns="137160" tIns="68580" rIns="137160" bIns="68580" rtlCol="0" anchor="ctr">
            <a:noAutofit/>
          </a:bodyPr>
          <a:lstStyle/>
          <a:p>
            <a:pPr lvl="0"/>
            <a:r>
              <a:rPr lang="en-US" sz="12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39517" y="4329834"/>
            <a:ext cx="914400" cy="877164"/>
          </a:xfrm>
          <a:prstGeom prst="rect">
            <a:avLst/>
          </a:prstGeom>
        </p:spPr>
        <p:txBody>
          <a:bodyPr vert="horz" lIns="137160" tIns="68580" rIns="137160" bIns="68580" rtlCol="0" anchor="ctr">
            <a:noAutofit/>
          </a:bodyPr>
          <a:lstStyle/>
          <a:p>
            <a:pPr lvl="0"/>
            <a:r>
              <a:rPr lang="en-US" sz="12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270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506847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003" y="2897982"/>
            <a:ext cx="12895002" cy="3893190"/>
          </a:xfrm>
        </p:spPr>
        <p:txBody>
          <a:bodyPr anchor="b">
            <a:normAutofit/>
          </a:bodyPr>
          <a:lstStyle>
            <a:lvl1pPr algn="l">
              <a:defRPr sz="66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6003" y="6791172"/>
            <a:ext cx="12895002" cy="2270871"/>
          </a:xfrm>
        </p:spPr>
        <p:txBody>
          <a:bodyPr anchor="t">
            <a:normAutofit/>
          </a:bodyPr>
          <a:lstStyle>
            <a:lvl1pPr marL="0" indent="0" algn="l">
              <a:buNone/>
              <a:defRPr sz="2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9550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7001" y="914400"/>
            <a:ext cx="12141201" cy="4533900"/>
          </a:xfrm>
        </p:spPr>
        <p:txBody>
          <a:bodyPr anchor="ctr">
            <a:normAutofit/>
          </a:bodyPr>
          <a:lstStyle>
            <a:lvl1pPr algn="l">
              <a:defRPr sz="66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15999" y="6019800"/>
            <a:ext cx="12895004" cy="771372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685800" indent="0">
              <a:buFontTx/>
              <a:buNone/>
              <a:defRPr/>
            </a:lvl2pPr>
            <a:lvl3pPr marL="1371600" indent="0">
              <a:buFontTx/>
              <a:buNone/>
              <a:defRPr/>
            </a:lvl3pPr>
            <a:lvl4pPr marL="2057400" indent="0">
              <a:buFontTx/>
              <a:buNone/>
              <a:defRPr/>
            </a:lvl4pPr>
            <a:lvl5pPr marL="27432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6003" y="6791172"/>
            <a:ext cx="12895002" cy="2270871"/>
          </a:xfrm>
        </p:spPr>
        <p:txBody>
          <a:bodyPr anchor="t">
            <a:normAutofit/>
          </a:bodyPr>
          <a:lstStyle>
            <a:lvl1pPr marL="0" indent="0" algn="l">
              <a:buNone/>
              <a:defRPr sz="27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812805" y="1185567"/>
            <a:ext cx="914400" cy="877164"/>
          </a:xfrm>
          <a:prstGeom prst="rect">
            <a:avLst/>
          </a:prstGeom>
        </p:spPr>
        <p:txBody>
          <a:bodyPr vert="horz" lIns="137160" tIns="68580" rIns="137160" bIns="68580" rtlCol="0" anchor="ctr">
            <a:noAutofit/>
          </a:bodyPr>
          <a:lstStyle/>
          <a:p>
            <a:pPr lvl="0"/>
            <a:r>
              <a:rPr lang="en-US" sz="12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339517" y="4329834"/>
            <a:ext cx="914400" cy="877164"/>
          </a:xfrm>
          <a:prstGeom prst="rect">
            <a:avLst/>
          </a:prstGeom>
        </p:spPr>
        <p:txBody>
          <a:bodyPr vert="horz" lIns="137160" tIns="68580" rIns="137160" bIns="68580" rtlCol="0" anchor="ctr">
            <a:noAutofit/>
          </a:bodyPr>
          <a:lstStyle/>
          <a:p>
            <a:pPr lvl="0"/>
            <a:r>
              <a:rPr lang="en-US" sz="12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508354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9" y="914400"/>
            <a:ext cx="12882305" cy="4533900"/>
          </a:xfrm>
        </p:spPr>
        <p:txBody>
          <a:bodyPr anchor="ctr">
            <a:normAutofit/>
          </a:bodyPr>
          <a:lstStyle>
            <a:lvl1pPr algn="l">
              <a:defRPr sz="66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15999" y="6019800"/>
            <a:ext cx="12895004" cy="771372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3600">
                <a:solidFill>
                  <a:schemeClr val="accent1"/>
                </a:solidFill>
              </a:defRPr>
            </a:lvl1pPr>
            <a:lvl2pPr marL="685800" indent="0">
              <a:buFontTx/>
              <a:buNone/>
              <a:defRPr/>
            </a:lvl2pPr>
            <a:lvl3pPr marL="1371600" indent="0">
              <a:buFontTx/>
              <a:buNone/>
              <a:defRPr/>
            </a:lvl3pPr>
            <a:lvl4pPr marL="2057400" indent="0">
              <a:buFontTx/>
              <a:buNone/>
              <a:defRPr/>
            </a:lvl4pPr>
            <a:lvl5pPr marL="27432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6003" y="6791172"/>
            <a:ext cx="12895002" cy="2270871"/>
          </a:xfrm>
        </p:spPr>
        <p:txBody>
          <a:bodyPr anchor="t">
            <a:normAutofit/>
          </a:bodyPr>
          <a:lstStyle>
            <a:lvl1pPr marL="0" indent="0" algn="l">
              <a:buNone/>
              <a:defRPr sz="27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4521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4963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951510" y="914399"/>
            <a:ext cx="1957115" cy="787717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16003" y="914400"/>
            <a:ext cx="10590225" cy="78771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631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12700"/>
            <a:ext cx="18288000" cy="10299701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16001" y="914400"/>
            <a:ext cx="12895002" cy="19812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6001" y="3240884"/>
            <a:ext cx="12895002" cy="5821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807700" y="9062044"/>
            <a:ext cx="1367909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16001" y="9062044"/>
            <a:ext cx="9446418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885995" y="9062044"/>
            <a:ext cx="1025009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accent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9491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3" r:id="rId1"/>
    <p:sldLayoutId id="2147483824" r:id="rId2"/>
    <p:sldLayoutId id="2147483825" r:id="rId3"/>
    <p:sldLayoutId id="2147483826" r:id="rId4"/>
    <p:sldLayoutId id="2147483827" r:id="rId5"/>
    <p:sldLayoutId id="2147483828" r:id="rId6"/>
    <p:sldLayoutId id="2147483829" r:id="rId7"/>
    <p:sldLayoutId id="2147483830" r:id="rId8"/>
    <p:sldLayoutId id="2147483831" r:id="rId9"/>
    <p:sldLayoutId id="2147483832" r:id="rId10"/>
    <p:sldLayoutId id="2147483833" r:id="rId11"/>
    <p:sldLayoutId id="2147483834" r:id="rId12"/>
    <p:sldLayoutId id="2147483835" r:id="rId13"/>
    <p:sldLayoutId id="2147483836" r:id="rId14"/>
    <p:sldLayoutId id="2147483837" r:id="rId15"/>
    <p:sldLayoutId id="2147483838" r:id="rId16"/>
  </p:sldLayoutIdLst>
  <p:txStyles>
    <p:titleStyle>
      <a:lvl1pPr algn="l" defTabSz="685800" rtl="0" eaLnBrk="1" latinLnBrk="0" hangingPunct="1">
        <a:spcBef>
          <a:spcPct val="0"/>
        </a:spcBef>
        <a:buNone/>
        <a:defRPr sz="54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514350" indent="-514350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1114425" indent="-428625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7145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24003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30861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37719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44577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51435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58293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0636E19-7D2B-1BBD-8DE9-B18AE144DB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8490024"/>
              </p:ext>
            </p:extLst>
          </p:nvPr>
        </p:nvGraphicFramePr>
        <p:xfrm>
          <a:off x="3429000" y="3695700"/>
          <a:ext cx="76962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19600">
                  <a:extLst>
                    <a:ext uri="{9D8B030D-6E8A-4147-A177-3AD203B41FA5}">
                      <a16:colId xmlns:a16="http://schemas.microsoft.com/office/drawing/2014/main" val="2968652794"/>
                    </a:ext>
                  </a:extLst>
                </a:gridCol>
                <a:gridCol w="3276600">
                  <a:extLst>
                    <a:ext uri="{9D8B030D-6E8A-4147-A177-3AD203B41FA5}">
                      <a16:colId xmlns:a16="http://schemas.microsoft.com/office/drawing/2014/main" val="3266955416"/>
                    </a:ext>
                  </a:extLst>
                </a:gridCol>
              </a:tblGrid>
              <a:tr h="256540">
                <a:tc>
                  <a:txBody>
                    <a:bodyPr/>
                    <a:lstStyle/>
                    <a:p>
                      <a:r>
                        <a:rPr lang="en-US"/>
                        <a:t>Name 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USN</a:t>
                      </a:r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28472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7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Agasthya Samyak </a:t>
                      </a:r>
                      <a:r>
                        <a:rPr lang="en-IN" sz="270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Jnan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7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02JST22UCS006</a:t>
                      </a:r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5306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7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Jayanth S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7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02JST22UCS043</a:t>
                      </a:r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957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7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Arvind Ningombam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02JST22US017</a:t>
                      </a:r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403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7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Prajwal T P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7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01JST21CS099</a:t>
                      </a:r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178317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295ACFB-F193-F21A-6EFA-4A0D7F9CBEAC}"/>
              </a:ext>
            </a:extLst>
          </p:cNvPr>
          <p:cNvSpPr txBox="1"/>
          <p:nvPr/>
        </p:nvSpPr>
        <p:spPr>
          <a:xfrm>
            <a:off x="914400" y="1104900"/>
            <a:ext cx="12268200" cy="18004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550">
                <a:latin typeface="Lato Bold" panose="020F0502020204030203" charset="0"/>
                <a:ea typeface="Lato Bold" panose="020F0502020204030203" charset="0"/>
                <a:cs typeface="Lato Bold" panose="020F0502020204030203" charset="0"/>
              </a:rPr>
              <a:t>Thermal Foot Analysis for Prediction of DPN using ML</a:t>
            </a:r>
            <a:endParaRPr lang="en-IN" sz="5550">
              <a:latin typeface="Lato Bold" panose="020F0502020204030203" charset="0"/>
              <a:ea typeface="Lato Bold" panose="020F0502020204030203" charset="0"/>
              <a:cs typeface="Lato Bold" panose="020F0502020204030203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D97975-480D-DA0A-B745-ADCCBF4CE354}"/>
              </a:ext>
            </a:extLst>
          </p:cNvPr>
          <p:cNvSpPr txBox="1"/>
          <p:nvPr/>
        </p:nvSpPr>
        <p:spPr>
          <a:xfrm>
            <a:off x="6019800" y="6896100"/>
            <a:ext cx="3851413" cy="1951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50165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2000" b="1" i="0" u="none" strike="noStrike" cap="none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Under the guidance of</a:t>
            </a:r>
            <a:endParaRPr lang="en-US" sz="2000" b="0" i="0" u="none" strike="noStrike" cap="none"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lang="en-US" sz="2000" b="0" i="0" u="none" strike="noStrike" cap="none"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12700" marR="5080" lvl="0" indent="-63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2000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Prof</a:t>
            </a:r>
            <a:r>
              <a:rPr lang="en-US" sz="2000" b="0" i="0" u="none" strike="noStrike" cap="none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. </a:t>
            </a:r>
            <a:r>
              <a:rPr lang="en-US" sz="2000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Amaresh A M</a:t>
            </a:r>
            <a:endParaRPr lang="en-US" sz="2000" b="0" i="0" u="none" strike="noStrike" cap="none"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12700" marR="5080" lvl="0" indent="-63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2000" b="0" i="0" u="none" strike="noStrike" cap="none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Assistant Professor </a:t>
            </a:r>
          </a:p>
          <a:p>
            <a:pPr marL="12700" marR="5080" lvl="0" indent="-63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2000" b="0" i="0" u="none" strike="noStrike" cap="none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Department of CS&amp;E </a:t>
            </a:r>
          </a:p>
          <a:p>
            <a:pPr marL="12700" marR="5080" lvl="0" indent="-63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2000" b="0" i="0" u="none" strike="noStrike" cap="none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SJCE, JSS STU Mysuru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D8DCE3-8C27-AEBE-D465-C393C54ADB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3825" y="0"/>
            <a:ext cx="2924175" cy="156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3864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7"/>
          <p:cNvSpPr txBox="1"/>
          <p:nvPr/>
        </p:nvSpPr>
        <p:spPr>
          <a:xfrm>
            <a:off x="1295400" y="2324100"/>
            <a:ext cx="7088238" cy="9240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Introduction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95400" y="3578123"/>
            <a:ext cx="10210800" cy="4060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Diabetes mellitus is a chronic metabolic disorder affecting millions worldwide.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95400" y="4804315"/>
            <a:ext cx="14249400" cy="4060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One of its serious complications is diabetic peripheral neuropathy, which can lead to foot ulcers and amputations.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95400" y="6030506"/>
            <a:ext cx="12649200" cy="4060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Early identification of abnormal foot conditions is crucial to prevent severe outcomes.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95400" y="7256707"/>
            <a:ext cx="14706600" cy="4060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Infrared thermal imaging provides a non-invasive, contactless, and safe method to observe foot temperature patterns.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98AA0C8-912F-6DEB-6831-67709A1749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9080" y="0"/>
            <a:ext cx="2924175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C5680CE0-5E6A-C59E-C24B-F1AB7898421B}"/>
              </a:ext>
            </a:extLst>
          </p:cNvPr>
          <p:cNvSpPr txBox="1"/>
          <p:nvPr/>
        </p:nvSpPr>
        <p:spPr>
          <a:xfrm>
            <a:off x="992238" y="2464889"/>
            <a:ext cx="9828162" cy="8155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Motivation and Project Focus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AABD0C5-C7D5-B448-A9C5-F452F80C2BF3}"/>
              </a:ext>
            </a:extLst>
          </p:cNvPr>
          <p:cNvSpPr txBox="1"/>
          <p:nvPr/>
        </p:nvSpPr>
        <p:spPr>
          <a:xfrm>
            <a:off x="992238" y="4389091"/>
            <a:ext cx="16303523" cy="4060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 algn="l">
              <a:lnSpc>
                <a:spcPts val="3562"/>
              </a:lnSpc>
              <a:buFont typeface="Arial" panose="020B0604020202020204" pitchFamily="34" charset="0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Neuropathic changes often manifest as thermal asymmetry and hotspots in thermal foot images.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D1F7D42-8A7E-3B66-0E10-B6CF149CDAAF}"/>
              </a:ext>
            </a:extLst>
          </p:cNvPr>
          <p:cNvSpPr txBox="1"/>
          <p:nvPr/>
        </p:nvSpPr>
        <p:spPr>
          <a:xfrm>
            <a:off x="992238" y="5161655"/>
            <a:ext cx="16303523" cy="4060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 algn="l">
              <a:lnSpc>
                <a:spcPts val="3562"/>
              </a:lnSpc>
              <a:buFont typeface="Arial" panose="020B0604020202020204" pitchFamily="34" charset="0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Manual interpretation of thermal images is subjective and requires expert knowledge.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012E7F2C-17AF-0105-9600-9E9CF3DDDECE}"/>
              </a:ext>
            </a:extLst>
          </p:cNvPr>
          <p:cNvSpPr txBox="1"/>
          <p:nvPr/>
        </p:nvSpPr>
        <p:spPr>
          <a:xfrm>
            <a:off x="992238" y="5934227"/>
            <a:ext cx="16303523" cy="4060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 algn="l">
              <a:lnSpc>
                <a:spcPts val="3562"/>
              </a:lnSpc>
              <a:buFont typeface="Arial" panose="020B0604020202020204" pitchFamily="34" charset="0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Machine learning and deep learning can automate thermal pattern analysis.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0326DCF-ADE8-E4C2-343D-339327BB585F}"/>
              </a:ext>
            </a:extLst>
          </p:cNvPr>
          <p:cNvSpPr txBox="1"/>
          <p:nvPr/>
        </p:nvSpPr>
        <p:spPr>
          <a:xfrm>
            <a:off x="992238" y="6706791"/>
            <a:ext cx="16303523" cy="4060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 algn="l">
              <a:lnSpc>
                <a:spcPts val="3562"/>
              </a:lnSpc>
              <a:buFont typeface="Arial" panose="020B0604020202020204" pitchFamily="34" charset="0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This project focuses on risk classification (Low / Moderate / High), not medical diagnosis.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AE57E13-AEAA-C9D0-6AB4-8CCDB42C88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44775" y="34787"/>
            <a:ext cx="2924175" cy="156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9387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641004" y="484737"/>
            <a:ext cx="7496623" cy="5914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99"/>
              </a:lnSpc>
            </a:pPr>
            <a:r>
              <a:rPr lang="en-US" sz="3562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Literature Review: Existing Research</a:t>
            </a:r>
          </a:p>
        </p:txBody>
      </p:sp>
      <p:sp>
        <p:nvSpPr>
          <p:cNvPr id="7" name="Freeform 7" descr="preencoded.png"/>
          <p:cNvSpPr/>
          <p:nvPr/>
        </p:nvSpPr>
        <p:spPr>
          <a:xfrm>
            <a:off x="641004" y="1442447"/>
            <a:ext cx="10932766" cy="7841752"/>
          </a:xfrm>
          <a:custGeom>
            <a:avLst/>
            <a:gdLst/>
            <a:ahLst/>
            <a:cxnLst/>
            <a:rect l="l" t="t" r="r" b="b"/>
            <a:pathLst>
              <a:path w="10932766" h="7841752">
                <a:moveTo>
                  <a:pt x="0" y="0"/>
                </a:moveTo>
                <a:lnTo>
                  <a:pt x="10932766" y="0"/>
                </a:lnTo>
                <a:lnTo>
                  <a:pt x="10932766" y="7841751"/>
                </a:lnTo>
                <a:lnTo>
                  <a:pt x="0" y="784175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5" r="-25"/>
            </a:stretch>
          </a:blipFill>
        </p:spPr>
        <p:txBody>
          <a:bodyPr/>
          <a:lstStyle/>
          <a:p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B59F31-DEB8-6076-DDA0-E96FEA7999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44775" y="34787"/>
            <a:ext cx="2924175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992238" y="2575027"/>
            <a:ext cx="7588748" cy="9240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Identified Research Gap</a:t>
            </a:r>
          </a:p>
        </p:txBody>
      </p:sp>
      <p:sp>
        <p:nvSpPr>
          <p:cNvPr id="7" name="Freeform 7" descr="preencoded.png"/>
          <p:cNvSpPr/>
          <p:nvPr/>
        </p:nvSpPr>
        <p:spPr>
          <a:xfrm>
            <a:off x="1098499" y="4074909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6" y="0"/>
                </a:lnTo>
                <a:lnTo>
                  <a:pt x="425206" y="425206"/>
                </a:lnTo>
                <a:lnTo>
                  <a:pt x="0" y="4252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8888" r="-8888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TextBox 8"/>
          <p:cNvSpPr txBox="1"/>
          <p:nvPr/>
        </p:nvSpPr>
        <p:spPr>
          <a:xfrm>
            <a:off x="1913630" y="4047087"/>
            <a:ext cx="3544043" cy="461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4A4A45"/>
                </a:solidFill>
                <a:latin typeface="Lato Bold"/>
                <a:ea typeface="Lato Bold"/>
                <a:cs typeface="Lato Bold"/>
                <a:sym typeface="Lato Bold"/>
              </a:rPr>
              <a:t>Risk Stratification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913630" y="4583906"/>
            <a:ext cx="7053110" cy="1002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Most existing works focus on binary diagnosis, not risk stratification.</a:t>
            </a:r>
          </a:p>
        </p:txBody>
      </p:sp>
      <p:sp>
        <p:nvSpPr>
          <p:cNvPr id="10" name="Freeform 10" descr="preencoded.png"/>
          <p:cNvSpPr/>
          <p:nvPr/>
        </p:nvSpPr>
        <p:spPr>
          <a:xfrm>
            <a:off x="9427369" y="4074909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5" y="0"/>
                </a:lnTo>
                <a:lnTo>
                  <a:pt x="425205" y="425206"/>
                </a:lnTo>
                <a:lnTo>
                  <a:pt x="0" y="4252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8888" r="-8888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1" name="TextBox 11"/>
          <p:cNvSpPr txBox="1"/>
          <p:nvPr/>
        </p:nvSpPr>
        <p:spPr>
          <a:xfrm>
            <a:off x="10242499" y="4047087"/>
            <a:ext cx="3853310" cy="461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4A4A45"/>
                </a:solidFill>
                <a:latin typeface="Lato Bold"/>
                <a:ea typeface="Lato Bold"/>
                <a:cs typeface="Lato Bold"/>
                <a:sym typeface="Lato Bold"/>
              </a:rPr>
              <a:t>CNN Output Integration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42499" y="4583906"/>
            <a:ext cx="7053262" cy="1002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Limited integration of CNN outputs with global thermal statistical features.</a:t>
            </a:r>
          </a:p>
        </p:txBody>
      </p:sp>
      <p:sp>
        <p:nvSpPr>
          <p:cNvPr id="13" name="Freeform 13" descr="preencoded.png"/>
          <p:cNvSpPr/>
          <p:nvPr/>
        </p:nvSpPr>
        <p:spPr>
          <a:xfrm>
            <a:off x="1098499" y="6162227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6" y="0"/>
                </a:lnTo>
                <a:lnTo>
                  <a:pt x="425206" y="425206"/>
                </a:lnTo>
                <a:lnTo>
                  <a:pt x="0" y="4252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8888" r="-8888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4" name="TextBox 14"/>
          <p:cNvSpPr txBox="1"/>
          <p:nvPr/>
        </p:nvSpPr>
        <p:spPr>
          <a:xfrm>
            <a:off x="1913630" y="6134395"/>
            <a:ext cx="5094237" cy="461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4A4A45"/>
                </a:solidFill>
                <a:latin typeface="Lato Bold"/>
                <a:ea typeface="Lato Bold"/>
                <a:cs typeface="Lato Bold"/>
                <a:sym typeface="Lato Bold"/>
              </a:rPr>
              <a:t>Lightweight CNN Benchmarking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913630" y="6671224"/>
            <a:ext cx="7053110" cy="1002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Few studies benchmark lightweight CNNs for thermal foot images.</a:t>
            </a:r>
          </a:p>
        </p:txBody>
      </p:sp>
      <p:sp>
        <p:nvSpPr>
          <p:cNvPr id="16" name="Freeform 16" descr="preencoded.png"/>
          <p:cNvSpPr/>
          <p:nvPr/>
        </p:nvSpPr>
        <p:spPr>
          <a:xfrm>
            <a:off x="9427369" y="6162227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5" y="0"/>
                </a:lnTo>
                <a:lnTo>
                  <a:pt x="425205" y="425206"/>
                </a:lnTo>
                <a:lnTo>
                  <a:pt x="0" y="4252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8888" r="-8888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7" name="TextBox 17"/>
          <p:cNvSpPr txBox="1"/>
          <p:nvPr/>
        </p:nvSpPr>
        <p:spPr>
          <a:xfrm>
            <a:off x="10242499" y="6134395"/>
            <a:ext cx="3544043" cy="461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4A4A45"/>
                </a:solidFill>
                <a:latin typeface="Lato Bold"/>
                <a:ea typeface="Lato Bold"/>
                <a:cs typeface="Lato Bold"/>
                <a:sym typeface="Lato Bold"/>
              </a:rPr>
              <a:t>Project Focus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242499" y="6671224"/>
            <a:ext cx="7053262" cy="1002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This project addresses these gaps through a hybrid, risk-based framework.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7F68E8F-782C-FD5B-FB9E-7B3CFAD7E6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63825" y="0"/>
            <a:ext cx="2924175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992238" y="2603602"/>
            <a:ext cx="16303523" cy="1810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System Requirements and Analysis: Functional Requirements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2238" y="4885430"/>
            <a:ext cx="16303523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Load and preprocess thermal foot images.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2238" y="5438184"/>
            <a:ext cx="16303523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Perform data augmentation to expand dataset and improve generalization.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2238" y="5990930"/>
            <a:ext cx="16303523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Train CNN-based binary classifiers.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92238" y="6543675"/>
            <a:ext cx="16303523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Extract global thermal features from images based on medical thermography methods.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7096420"/>
            <a:ext cx="16303523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Generate risk scores based on classifier output and global thermal features and classify risk levels.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BD0FFE6-E45A-6655-FAC3-CFAADEB0F2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63825" y="0"/>
            <a:ext cx="2924175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992238" y="2217239"/>
            <a:ext cx="9561462" cy="9240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Non-Functional Requirements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2238" y="3830984"/>
            <a:ext cx="4456214" cy="461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Reliability &amp; Reproducibility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2238" y="4481217"/>
            <a:ext cx="7805890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High reliability and reproducibility of results.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499397" y="3830984"/>
            <a:ext cx="3544043" cy="461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Efficient Computation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499397" y="4481217"/>
            <a:ext cx="7805890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Efficient computation suitable for limited resources.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5868591"/>
            <a:ext cx="3544043" cy="461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Modular &amp; Scalable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2238" y="6518824"/>
            <a:ext cx="7805890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Modular and scalable system design.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499397" y="5868591"/>
            <a:ext cx="3544043" cy="461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Validity &amp; Ethics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499397" y="6518824"/>
            <a:ext cx="7805890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Validation of outputs for medical relevance.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88C8B2F-86FE-6CCD-5504-FF08277E08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63825" y="0"/>
            <a:ext cx="2924175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992238" y="1894132"/>
            <a:ext cx="16303523" cy="1810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Tools and Technologies Used: Software and Frameworks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87476" y="4266457"/>
            <a:ext cx="16313048" cy="4093073"/>
            <a:chOff x="0" y="0"/>
            <a:chExt cx="21750731" cy="545743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750782" cy="5457444"/>
            </a:xfrm>
            <a:custGeom>
              <a:avLst/>
              <a:gdLst/>
              <a:ahLst/>
              <a:cxnLst/>
              <a:rect l="l" t="t" r="r" b="b"/>
              <a:pathLst>
                <a:path w="21750782" h="5457444">
                  <a:moveTo>
                    <a:pt x="0" y="63119"/>
                  </a:moveTo>
                  <a:cubicBezTo>
                    <a:pt x="0" y="28194"/>
                    <a:pt x="28321" y="0"/>
                    <a:pt x="63246" y="0"/>
                  </a:cubicBezTo>
                  <a:lnTo>
                    <a:pt x="21687537" y="0"/>
                  </a:lnTo>
                  <a:lnTo>
                    <a:pt x="21687537" y="6350"/>
                  </a:lnTo>
                  <a:lnTo>
                    <a:pt x="21687537" y="0"/>
                  </a:lnTo>
                  <a:cubicBezTo>
                    <a:pt x="21722462" y="0"/>
                    <a:pt x="21750782" y="28194"/>
                    <a:pt x="21750782" y="63119"/>
                  </a:cubicBezTo>
                  <a:lnTo>
                    <a:pt x="21744432" y="63119"/>
                  </a:lnTo>
                  <a:lnTo>
                    <a:pt x="21750782" y="63119"/>
                  </a:lnTo>
                  <a:lnTo>
                    <a:pt x="21750782" y="5394325"/>
                  </a:lnTo>
                  <a:lnTo>
                    <a:pt x="21744432" y="5394325"/>
                  </a:lnTo>
                  <a:lnTo>
                    <a:pt x="21750782" y="5394325"/>
                  </a:lnTo>
                  <a:cubicBezTo>
                    <a:pt x="21750782" y="5429123"/>
                    <a:pt x="21722462" y="5457444"/>
                    <a:pt x="21687537" y="5457444"/>
                  </a:cubicBezTo>
                  <a:lnTo>
                    <a:pt x="21687537" y="5451094"/>
                  </a:lnTo>
                  <a:lnTo>
                    <a:pt x="21687537" y="5457444"/>
                  </a:lnTo>
                  <a:lnTo>
                    <a:pt x="63246" y="5457444"/>
                  </a:lnTo>
                  <a:lnTo>
                    <a:pt x="63246" y="5451094"/>
                  </a:lnTo>
                  <a:lnTo>
                    <a:pt x="63246" y="5457444"/>
                  </a:lnTo>
                  <a:cubicBezTo>
                    <a:pt x="28321" y="5457444"/>
                    <a:pt x="0" y="5429250"/>
                    <a:pt x="0" y="5394325"/>
                  </a:cubicBezTo>
                  <a:lnTo>
                    <a:pt x="0" y="63119"/>
                  </a:lnTo>
                  <a:lnTo>
                    <a:pt x="6350" y="63119"/>
                  </a:lnTo>
                  <a:lnTo>
                    <a:pt x="0" y="63119"/>
                  </a:lnTo>
                  <a:moveTo>
                    <a:pt x="12700" y="63119"/>
                  </a:moveTo>
                  <a:lnTo>
                    <a:pt x="12700" y="5394325"/>
                  </a:lnTo>
                  <a:lnTo>
                    <a:pt x="6350" y="5394325"/>
                  </a:lnTo>
                  <a:lnTo>
                    <a:pt x="12700" y="5394325"/>
                  </a:lnTo>
                  <a:cubicBezTo>
                    <a:pt x="12700" y="5422138"/>
                    <a:pt x="35306" y="5444744"/>
                    <a:pt x="63246" y="5444744"/>
                  </a:cubicBezTo>
                  <a:lnTo>
                    <a:pt x="21687537" y="5444744"/>
                  </a:lnTo>
                  <a:cubicBezTo>
                    <a:pt x="21715476" y="5444744"/>
                    <a:pt x="21738082" y="5422138"/>
                    <a:pt x="21738082" y="5394325"/>
                  </a:cubicBezTo>
                  <a:lnTo>
                    <a:pt x="21738082" y="63119"/>
                  </a:lnTo>
                  <a:cubicBezTo>
                    <a:pt x="21738082" y="35306"/>
                    <a:pt x="21715476" y="12700"/>
                    <a:pt x="21687537" y="12700"/>
                  </a:cubicBezTo>
                  <a:lnTo>
                    <a:pt x="63246" y="12700"/>
                  </a:lnTo>
                  <a:lnTo>
                    <a:pt x="63246" y="6350"/>
                  </a:lnTo>
                  <a:lnTo>
                    <a:pt x="63246" y="12700"/>
                  </a:lnTo>
                  <a:cubicBezTo>
                    <a:pt x="35306" y="12700"/>
                    <a:pt x="12700" y="35306"/>
                    <a:pt x="12700" y="63119"/>
                  </a:cubicBezTo>
                  <a:close/>
                </a:path>
              </a:pathLst>
            </a:custGeom>
            <a:solidFill>
              <a:srgbClr val="000000">
                <a:alpha val="392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001763" y="4280745"/>
            <a:ext cx="16284473" cy="812902"/>
            <a:chOff x="0" y="0"/>
            <a:chExt cx="21712631" cy="108386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712682" cy="1083818"/>
            </a:xfrm>
            <a:custGeom>
              <a:avLst/>
              <a:gdLst/>
              <a:ahLst/>
              <a:cxnLst/>
              <a:rect l="l" t="t" r="r" b="b"/>
              <a:pathLst>
                <a:path w="21712682" h="1083818">
                  <a:moveTo>
                    <a:pt x="0" y="0"/>
                  </a:moveTo>
                  <a:lnTo>
                    <a:pt x="21712682" y="0"/>
                  </a:lnTo>
                  <a:lnTo>
                    <a:pt x="21712682" y="1083818"/>
                  </a:lnTo>
                  <a:lnTo>
                    <a:pt x="0" y="1083818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285284" y="4365127"/>
            <a:ext cx="7570441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Programming Language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432284" y="4365127"/>
            <a:ext cx="7570441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Python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001763" y="5093646"/>
            <a:ext cx="16284473" cy="812902"/>
            <a:chOff x="0" y="0"/>
            <a:chExt cx="21712631" cy="108386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1712682" cy="1083818"/>
            </a:xfrm>
            <a:custGeom>
              <a:avLst/>
              <a:gdLst/>
              <a:ahLst/>
              <a:cxnLst/>
              <a:rect l="l" t="t" r="r" b="b"/>
              <a:pathLst>
                <a:path w="21712682" h="1083818">
                  <a:moveTo>
                    <a:pt x="0" y="0"/>
                  </a:moveTo>
                  <a:lnTo>
                    <a:pt x="21712682" y="0"/>
                  </a:lnTo>
                  <a:lnTo>
                    <a:pt x="21712682" y="1083818"/>
                  </a:lnTo>
                  <a:lnTo>
                    <a:pt x="0" y="108381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285284" y="5178028"/>
            <a:ext cx="7570441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Deep Learning Framework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432284" y="5178028"/>
            <a:ext cx="7570441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TensorFlow / Keras 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01763" y="5906538"/>
            <a:ext cx="16284473" cy="812902"/>
            <a:chOff x="0" y="0"/>
            <a:chExt cx="21712631" cy="108386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1712682" cy="1083818"/>
            </a:xfrm>
            <a:custGeom>
              <a:avLst/>
              <a:gdLst/>
              <a:ahLst/>
              <a:cxnLst/>
              <a:rect l="l" t="t" r="r" b="b"/>
              <a:pathLst>
                <a:path w="21712682" h="1083818">
                  <a:moveTo>
                    <a:pt x="0" y="0"/>
                  </a:moveTo>
                  <a:lnTo>
                    <a:pt x="21712682" y="0"/>
                  </a:lnTo>
                  <a:lnTo>
                    <a:pt x="21712682" y="1083818"/>
                  </a:lnTo>
                  <a:lnTo>
                    <a:pt x="0" y="1083818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285284" y="5990930"/>
            <a:ext cx="7570441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Image Processing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432284" y="5990930"/>
            <a:ext cx="7570441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NumPy, OpenCV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001763" y="6719440"/>
            <a:ext cx="16284473" cy="812902"/>
            <a:chOff x="0" y="0"/>
            <a:chExt cx="21712631" cy="108386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1712682" cy="1083818"/>
            </a:xfrm>
            <a:custGeom>
              <a:avLst/>
              <a:gdLst/>
              <a:ahLst/>
              <a:cxnLst/>
              <a:rect l="l" t="t" r="r" b="b"/>
              <a:pathLst>
                <a:path w="21712682" h="1083818">
                  <a:moveTo>
                    <a:pt x="0" y="0"/>
                  </a:moveTo>
                  <a:lnTo>
                    <a:pt x="21712682" y="0"/>
                  </a:lnTo>
                  <a:lnTo>
                    <a:pt x="21712682" y="1083818"/>
                  </a:lnTo>
                  <a:lnTo>
                    <a:pt x="0" y="108381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285284" y="6803822"/>
            <a:ext cx="7570441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Visualization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432284" y="6803822"/>
            <a:ext cx="7570441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Matplotlib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001763" y="7532341"/>
            <a:ext cx="16284473" cy="812902"/>
            <a:chOff x="0" y="0"/>
            <a:chExt cx="21712631" cy="108386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21712682" cy="1083818"/>
            </a:xfrm>
            <a:custGeom>
              <a:avLst/>
              <a:gdLst/>
              <a:ahLst/>
              <a:cxnLst/>
              <a:rect l="l" t="t" r="r" b="b"/>
              <a:pathLst>
                <a:path w="21712682" h="1083818">
                  <a:moveTo>
                    <a:pt x="0" y="0"/>
                  </a:moveTo>
                  <a:lnTo>
                    <a:pt x="21712682" y="0"/>
                  </a:lnTo>
                  <a:lnTo>
                    <a:pt x="21712682" y="1083818"/>
                  </a:lnTo>
                  <a:lnTo>
                    <a:pt x="0" y="1083818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285284" y="7616723"/>
            <a:ext cx="7570441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Model Evaluation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432284" y="7616723"/>
            <a:ext cx="7570441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Scikit-learn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9AF61B2C-4001-008E-08B1-D3A01C170E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63825" y="0"/>
            <a:ext cx="2924175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992238" y="2204885"/>
            <a:ext cx="7088238" cy="9240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Models and Platform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2238" y="3818630"/>
            <a:ext cx="4894955" cy="461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Pretrained CNN Architectures: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2238" y="4468863"/>
            <a:ext cx="7805890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EfficientNet-B0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2238" y="5021609"/>
            <a:ext cx="7805890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MobileNetV2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499397" y="3818630"/>
            <a:ext cx="3544043" cy="461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Training Platform: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499397" y="4468863"/>
            <a:ext cx="7805890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Google Colab, VS Code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499397" y="5282203"/>
            <a:ext cx="3544043" cy="461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Dataset Handling: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499397" y="5932437"/>
            <a:ext cx="7805890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Directory-based generators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499397" y="6745786"/>
            <a:ext cx="4113009" cy="461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Experiment Management: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508922" y="7396010"/>
            <a:ext cx="7805890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Versioned model saving and experiment logging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3E11EBF-045C-6CDA-4644-5A430DC31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63825" y="8283"/>
            <a:ext cx="2924175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959491" y="734768"/>
            <a:ext cx="6853533" cy="8757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87"/>
              </a:lnSpc>
            </a:pPr>
            <a:r>
              <a:rPr lang="en-US" sz="5374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System Design</a:t>
            </a:r>
          </a:p>
        </p:txBody>
      </p:sp>
      <p:sp>
        <p:nvSpPr>
          <p:cNvPr id="7" name="Freeform 7" descr="preencoded.png"/>
          <p:cNvSpPr/>
          <p:nvPr/>
        </p:nvSpPr>
        <p:spPr>
          <a:xfrm>
            <a:off x="959491" y="2158756"/>
            <a:ext cx="14766579" cy="3743325"/>
          </a:xfrm>
          <a:custGeom>
            <a:avLst/>
            <a:gdLst/>
            <a:ahLst/>
            <a:cxnLst/>
            <a:rect l="l" t="t" r="r" b="b"/>
            <a:pathLst>
              <a:path w="14766579" h="3743325">
                <a:moveTo>
                  <a:pt x="0" y="0"/>
                </a:moveTo>
                <a:lnTo>
                  <a:pt x="14766579" y="0"/>
                </a:lnTo>
                <a:lnTo>
                  <a:pt x="14766579" y="3743325"/>
                </a:lnTo>
                <a:lnTo>
                  <a:pt x="0" y="37433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" b="-9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TextBox 8"/>
          <p:cNvSpPr txBox="1"/>
          <p:nvPr/>
        </p:nvSpPr>
        <p:spPr>
          <a:xfrm>
            <a:off x="959491" y="6862172"/>
            <a:ext cx="16369008" cy="5338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0477" lvl="1" indent="-160238" algn="l">
              <a:lnSpc>
                <a:spcPts val="3437"/>
              </a:lnSpc>
              <a:buFont typeface="Arial"/>
              <a:buChar char="•"/>
            </a:pPr>
            <a:r>
              <a:rPr lang="en-US" sz="2125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CNNs learn complex spatial thermal patterns.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59491" y="7396610"/>
            <a:ext cx="16369008" cy="5338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0477" lvl="1" indent="-160238" algn="l">
              <a:lnSpc>
                <a:spcPts val="3437"/>
              </a:lnSpc>
              <a:buFont typeface="Arial"/>
              <a:buChar char="•"/>
            </a:pPr>
            <a:r>
              <a:rPr lang="en-US" sz="2125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Global thermal features add physiological interpretability.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59491" y="7931048"/>
            <a:ext cx="16369008" cy="5338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0477" lvl="1" indent="-160238" algn="l">
              <a:lnSpc>
                <a:spcPts val="3437"/>
              </a:lnSpc>
              <a:buFont typeface="Arial"/>
              <a:buChar char="•"/>
            </a:pPr>
            <a:r>
              <a:rPr lang="en-US" sz="2125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Hybrid design improves robustness.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59491" y="8465496"/>
            <a:ext cx="16369008" cy="5338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0477" lvl="1" indent="-160238" algn="l">
              <a:lnSpc>
                <a:spcPts val="3437"/>
              </a:lnSpc>
              <a:buFont typeface="Arial"/>
              <a:buChar char="•"/>
            </a:pPr>
            <a:r>
              <a:rPr lang="en-US" sz="2125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Risk-based output avoids clinical overclaiming.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59491" y="8999934"/>
            <a:ext cx="16369008" cy="5338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0477" lvl="1" indent="-160238" algn="l">
              <a:lnSpc>
                <a:spcPts val="3437"/>
              </a:lnSpc>
              <a:buFont typeface="Arial"/>
              <a:buChar char="•"/>
            </a:pPr>
            <a:r>
              <a:rPr lang="en-US" sz="2125">
                <a:solidFill>
                  <a:srgbClr val="4A4A45"/>
                </a:solidFill>
                <a:latin typeface="Lato"/>
                <a:ea typeface="Lato"/>
                <a:cs typeface="Lato"/>
                <a:sym typeface="Lato"/>
              </a:rPr>
              <a:t>Modular pipeline enables easy extension.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C93CC79-17F5-3B7B-DCA8-4F9E2AE6D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53886" y="0"/>
            <a:ext cx="2924175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6">
            <a:extLst>
              <a:ext uri="{FF2B5EF4-FFF2-40B4-BE49-F238E27FC236}">
                <a16:creationId xmlns:a16="http://schemas.microsoft.com/office/drawing/2014/main" id="{7D14AE3B-F4E5-37B3-94D7-9426547EBFBE}"/>
              </a:ext>
            </a:extLst>
          </p:cNvPr>
          <p:cNvSpPr txBox="1"/>
          <p:nvPr/>
        </p:nvSpPr>
        <p:spPr>
          <a:xfrm>
            <a:off x="794890" y="1546193"/>
            <a:ext cx="17340710" cy="6597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62"/>
              </a:lnSpc>
            </a:pPr>
            <a:r>
              <a:rPr lang="en-US" sz="4437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System Implementation: Image Processing and CNN Model Training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F9AFB2-F875-1713-68A6-CAD5A5B962C9}"/>
              </a:ext>
            </a:extLst>
          </p:cNvPr>
          <p:cNvSpPr txBox="1"/>
          <p:nvPr/>
        </p:nvSpPr>
        <p:spPr>
          <a:xfrm>
            <a:off x="761760" y="2552700"/>
            <a:ext cx="14445110" cy="478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Thermal images are batched, shuffled, resized to 224x224, and normalized before training and validation.</a:t>
            </a:r>
            <a:endParaRPr lang="en-US" sz="1800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2BC964-9EDC-E575-D493-7D37FC639A8F}"/>
              </a:ext>
            </a:extLst>
          </p:cNvPr>
          <p:cNvSpPr txBox="1"/>
          <p:nvPr/>
        </p:nvSpPr>
        <p:spPr>
          <a:xfrm>
            <a:off x="761760" y="3195070"/>
            <a:ext cx="14445110" cy="478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 sz="1800">
                <a:solidFill>
                  <a:srgbClr val="4A4A45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  <a:sym typeface="Lato"/>
              </a:rPr>
              <a:t>The training is done in two stages: feature extraction and fine tuning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DCA7EC-119F-8B29-3C38-3B851E2FC79B}"/>
              </a:ext>
            </a:extLst>
          </p:cNvPr>
          <p:cNvSpPr txBox="1"/>
          <p:nvPr/>
        </p:nvSpPr>
        <p:spPr>
          <a:xfrm>
            <a:off x="761760" y="3837440"/>
            <a:ext cx="14445110" cy="478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 sz="1800">
                <a:solidFill>
                  <a:srgbClr val="4A4A45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  <a:sym typeface="Lato"/>
              </a:rPr>
              <a:t>Pre trained layers are initially frozen to stabilize learning.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8B4948-E909-F6B0-C64B-8906D17ED63B}"/>
              </a:ext>
            </a:extLst>
          </p:cNvPr>
          <p:cNvSpPr txBox="1"/>
          <p:nvPr/>
        </p:nvSpPr>
        <p:spPr>
          <a:xfrm>
            <a:off x="761760" y="4393253"/>
            <a:ext cx="14445110" cy="478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 sz="1800">
                <a:solidFill>
                  <a:srgbClr val="4A4A45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  <a:sym typeface="Lato"/>
              </a:rPr>
              <a:t>Selected deeper layers unfrozen for fine tuning and better generalization.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3E4DADA-898E-743B-82BA-A9B5067939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6101404"/>
            <a:ext cx="7696867" cy="293395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BDF89BF-0207-62B6-F74B-8A57D1F085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0" y="5930039"/>
            <a:ext cx="8991600" cy="327668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53649EF-B9A5-5829-6B25-0B8D5AFB92AC}"/>
              </a:ext>
            </a:extLst>
          </p:cNvPr>
          <p:cNvSpPr txBox="1"/>
          <p:nvPr/>
        </p:nvSpPr>
        <p:spPr>
          <a:xfrm>
            <a:off x="761760" y="4946651"/>
            <a:ext cx="14445110" cy="478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 sz="1800">
                <a:solidFill>
                  <a:srgbClr val="4A4A45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  <a:sym typeface="Lato"/>
              </a:rPr>
              <a:t>Performance of various models are evaluated using multiple metrics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52F2A2-9D64-6A8A-42D6-B4CDFE4D1A42}"/>
              </a:ext>
            </a:extLst>
          </p:cNvPr>
          <p:cNvSpPr txBox="1"/>
          <p:nvPr/>
        </p:nvSpPr>
        <p:spPr>
          <a:xfrm>
            <a:off x="1447800" y="94107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/>
              <a:t>Comparison of performance of different Pre-trained CNN backbones.</a:t>
            </a:r>
            <a:endParaRPr lang="en-IN" i="1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1EB159-9882-88DB-2475-3CD45F6294A9}"/>
              </a:ext>
            </a:extLst>
          </p:cNvPr>
          <p:cNvSpPr txBox="1"/>
          <p:nvPr/>
        </p:nvSpPr>
        <p:spPr>
          <a:xfrm>
            <a:off x="9465245" y="9376125"/>
            <a:ext cx="7924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/>
              <a:t>Accuracy Plots of Training and Fine Tuning of MobileNetV2 based Classifier Model.</a:t>
            </a:r>
            <a:endParaRPr lang="en-IN" i="1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F90628-F818-7FC6-964B-C5BFA4352E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53886" y="0"/>
            <a:ext cx="2924175" cy="156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4911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6">
            <a:extLst>
              <a:ext uri="{FF2B5EF4-FFF2-40B4-BE49-F238E27FC236}">
                <a16:creationId xmlns:a16="http://schemas.microsoft.com/office/drawing/2014/main" id="{1A3CC3E7-1B72-5850-E04E-AF14AF2CF03F}"/>
              </a:ext>
            </a:extLst>
          </p:cNvPr>
          <p:cNvSpPr txBox="1"/>
          <p:nvPr/>
        </p:nvSpPr>
        <p:spPr>
          <a:xfrm>
            <a:off x="1066800" y="2552700"/>
            <a:ext cx="17340710" cy="6597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62"/>
              </a:lnSpc>
            </a:pPr>
            <a:r>
              <a:rPr lang="en-US" sz="4437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System Implementation: Dataset Risk Labelling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C8283E-BB8D-CFDA-5BB2-95EB0C2F57E5}"/>
              </a:ext>
            </a:extLst>
          </p:cNvPr>
          <p:cNvSpPr txBox="1"/>
          <p:nvPr/>
        </p:nvSpPr>
        <p:spPr>
          <a:xfrm>
            <a:off x="881510" y="3747192"/>
            <a:ext cx="14445110" cy="487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/>
              <a:t>Risk labels generated using an unsupervised thermal analysis approach</a:t>
            </a:r>
            <a:endParaRPr lang="en-US" sz="1800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18F5C9-89D4-12AD-CA10-2C97546657F4}"/>
              </a:ext>
            </a:extLst>
          </p:cNvPr>
          <p:cNvSpPr txBox="1"/>
          <p:nvPr/>
        </p:nvSpPr>
        <p:spPr>
          <a:xfrm>
            <a:off x="881510" y="4281888"/>
            <a:ext cx="14445110" cy="487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/>
              <a:t>Thermal features extracted from the HSV (V-channel) of foot thermograms</a:t>
            </a:r>
            <a:endParaRPr lang="en-US" sz="1800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90D24BB-B4C0-63E0-930D-5B04C146F54A}"/>
              </a:ext>
            </a:extLst>
          </p:cNvPr>
          <p:cNvSpPr txBox="1"/>
          <p:nvPr/>
        </p:nvSpPr>
        <p:spPr>
          <a:xfrm>
            <a:off x="864945" y="4816584"/>
            <a:ext cx="14445110" cy="487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/>
              <a:t>Computed features: mean temperature, standard deviation, entropy, and left–right asymmetry</a:t>
            </a:r>
            <a:endParaRPr lang="en-US" sz="1800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E07370-33E1-C10B-E6FA-9548A81128A0}"/>
              </a:ext>
            </a:extLst>
          </p:cNvPr>
          <p:cNvSpPr txBox="1"/>
          <p:nvPr/>
        </p:nvSpPr>
        <p:spPr>
          <a:xfrm>
            <a:off x="894762" y="5351280"/>
            <a:ext cx="14445110" cy="936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/>
              <a:t>Thermal Risk Score (TRS) calculated to quantify abnormal heat patterns</a:t>
            </a:r>
          </a:p>
          <a:p>
            <a:pPr marL="162123" lvl="1">
              <a:lnSpc>
                <a:spcPts val="3455"/>
              </a:lnSpc>
            </a:pPr>
            <a:r>
              <a:rPr lang="en-US" sz="1800">
                <a:solidFill>
                  <a:srgbClr val="4A4A45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  <a:sym typeface="Lato"/>
              </a:rPr>
              <a:t>                                                          </a:t>
            </a:r>
            <a:r>
              <a:rPr lang="en-IN"/>
              <a:t>TRS = 0.4×Mean + 0.3×Std + 0.3×Entropy</a:t>
            </a:r>
            <a:endParaRPr lang="en-US" sz="1800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60F09D5-434E-6C0A-E922-1079BEBDE219}"/>
              </a:ext>
            </a:extLst>
          </p:cNvPr>
          <p:cNvSpPr txBox="1"/>
          <p:nvPr/>
        </p:nvSpPr>
        <p:spPr>
          <a:xfrm>
            <a:off x="881510" y="6334816"/>
            <a:ext cx="14445110" cy="487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/>
              <a:t>K-Means clustering (k = 3) applied on normalized thermal features</a:t>
            </a:r>
            <a:endParaRPr lang="en-US" sz="1800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193E3D-352C-46FA-DC71-9899D2E3D8F6}"/>
              </a:ext>
            </a:extLst>
          </p:cNvPr>
          <p:cNvSpPr txBox="1"/>
          <p:nvPr/>
        </p:nvSpPr>
        <p:spPr>
          <a:xfrm>
            <a:off x="898075" y="6869512"/>
            <a:ext cx="14445110" cy="487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/>
              <a:t>Clusters ranked by TRS and labeled as </a:t>
            </a:r>
            <a:r>
              <a:rPr lang="en-US" b="1"/>
              <a:t>Low, Moderate, and High risk</a:t>
            </a:r>
            <a:endParaRPr lang="en-US" sz="1800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870F58-8B08-3483-FC28-736EA134E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3886" y="0"/>
            <a:ext cx="2924175" cy="156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4408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6">
            <a:extLst>
              <a:ext uri="{FF2B5EF4-FFF2-40B4-BE49-F238E27FC236}">
                <a16:creationId xmlns:a16="http://schemas.microsoft.com/office/drawing/2014/main" id="{876E9336-215E-CD78-A745-16F5EAC9BE5F}"/>
              </a:ext>
            </a:extLst>
          </p:cNvPr>
          <p:cNvSpPr txBox="1"/>
          <p:nvPr/>
        </p:nvSpPr>
        <p:spPr>
          <a:xfrm>
            <a:off x="762000" y="2095500"/>
            <a:ext cx="17340710" cy="6597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62"/>
              </a:lnSpc>
            </a:pPr>
            <a:r>
              <a:rPr lang="en-US" sz="4437" b="1">
                <a:solidFill>
                  <a:srgbClr val="282824"/>
                </a:solidFill>
                <a:latin typeface="Lato Bold"/>
                <a:ea typeface="Lato Bold"/>
                <a:cs typeface="Lato Bold"/>
                <a:sym typeface="Lato Bold"/>
              </a:rPr>
              <a:t>XGBOOST-based Risk Modelling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E6C6CB-3E0D-F267-6E52-646AC456F34E}"/>
              </a:ext>
            </a:extLst>
          </p:cNvPr>
          <p:cNvSpPr txBox="1"/>
          <p:nvPr/>
        </p:nvSpPr>
        <p:spPr>
          <a:xfrm>
            <a:off x="576710" y="3289992"/>
            <a:ext cx="14445110" cy="487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/>
              <a:t>XGBoost regressor trained using fused CNN and thermal features</a:t>
            </a:r>
            <a:endParaRPr lang="en-US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AC3B25-0B30-7BFA-0905-9992D148FAD8}"/>
              </a:ext>
            </a:extLst>
          </p:cNvPr>
          <p:cNvSpPr txBox="1"/>
          <p:nvPr/>
        </p:nvSpPr>
        <p:spPr>
          <a:xfrm>
            <a:off x="553519" y="3824688"/>
            <a:ext cx="14445110" cy="487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/>
              <a:t>Model predicts neuropathy risk on an ordinal risk scale</a:t>
            </a:r>
            <a:endParaRPr lang="en-US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C87866-300C-570C-FAF7-F8773919E7AA}"/>
              </a:ext>
            </a:extLst>
          </p:cNvPr>
          <p:cNvSpPr txBox="1"/>
          <p:nvPr/>
        </p:nvSpPr>
        <p:spPr>
          <a:xfrm>
            <a:off x="553519" y="4376490"/>
            <a:ext cx="14445110" cy="487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IN"/>
              <a:t>Risk interpretation:  0.0–0.5 → Low risk, 0.5–1.5 → Moderate risk,  &gt; 1.5 → High risk</a:t>
            </a:r>
            <a:endParaRPr lang="en-US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484B3F-3761-E48C-68BD-9E46C9344F66}"/>
              </a:ext>
            </a:extLst>
          </p:cNvPr>
          <p:cNvSpPr txBox="1"/>
          <p:nvPr/>
        </p:nvSpPr>
        <p:spPr>
          <a:xfrm>
            <a:off x="576710" y="4928292"/>
            <a:ext cx="14445110" cy="487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/>
              <a:t>Dataset used: 21,660 training and 6,330 validation images (27,990 total)</a:t>
            </a:r>
            <a:endParaRPr lang="en-US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E81FA8-14BC-8026-0A33-9F155BF178BD}"/>
              </a:ext>
            </a:extLst>
          </p:cNvPr>
          <p:cNvSpPr txBox="1"/>
          <p:nvPr/>
        </p:nvSpPr>
        <p:spPr>
          <a:xfrm>
            <a:off x="556832" y="5462988"/>
            <a:ext cx="14445110" cy="487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/>
              <a:t>Confusion matrix shows strong separation between risk categories</a:t>
            </a:r>
            <a:endParaRPr lang="en-US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CC562E-A5F8-3DE9-4E1E-E9A4D70CD0BB}"/>
              </a:ext>
            </a:extLst>
          </p:cNvPr>
          <p:cNvSpPr txBox="1"/>
          <p:nvPr/>
        </p:nvSpPr>
        <p:spPr>
          <a:xfrm>
            <a:off x="576710" y="6031896"/>
            <a:ext cx="14445110" cy="487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4246" lvl="1" indent="-162123">
              <a:lnSpc>
                <a:spcPts val="3455"/>
              </a:lnSpc>
              <a:buFont typeface="Arial"/>
              <a:buChar char="•"/>
            </a:pPr>
            <a:r>
              <a:rPr lang="en-US"/>
              <a:t>Minor overlap near boundaries, expected in medical ordinal prediction</a:t>
            </a:r>
            <a:endParaRPr lang="en-US">
              <a:solidFill>
                <a:srgbClr val="4A4A4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  <a:sym typeface="Lato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F58BC2-DE28-1C3F-0491-7BA858996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510" y="7083787"/>
            <a:ext cx="7346317" cy="214902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F818A9F-501D-8AE9-2BB9-BF7FECBAD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7827" y="7160348"/>
            <a:ext cx="8546875" cy="192084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08D6A59-A740-3426-A717-2061DF0FD323}"/>
              </a:ext>
            </a:extLst>
          </p:cNvPr>
          <p:cNvSpPr txBox="1"/>
          <p:nvPr/>
        </p:nvSpPr>
        <p:spPr>
          <a:xfrm>
            <a:off x="2786510" y="9502898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i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Confusion Matrix</a:t>
            </a:r>
            <a:endParaRPr lang="en-IN" i="1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50FEF5-FB68-D509-54F0-685036D4D35B}"/>
              </a:ext>
            </a:extLst>
          </p:cNvPr>
          <p:cNvSpPr txBox="1"/>
          <p:nvPr/>
        </p:nvSpPr>
        <p:spPr>
          <a:xfrm>
            <a:off x="10863710" y="9502898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i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Validation Performance</a:t>
            </a:r>
            <a:endParaRPr lang="en-IN" i="1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DBB947-4B75-0886-9CF4-CABC80CC3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53886" y="0"/>
            <a:ext cx="2924175" cy="156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7798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77CFDDD-16CA-AAFB-0D54-7A73320C5375}"/>
              </a:ext>
            </a:extLst>
          </p:cNvPr>
          <p:cNvSpPr txBox="1"/>
          <p:nvPr/>
        </p:nvSpPr>
        <p:spPr>
          <a:xfrm>
            <a:off x="504033" y="1491097"/>
            <a:ext cx="16066050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400">
                <a:solidFill>
                  <a:srgbClr val="282824"/>
                </a:solidFill>
                <a:ea typeface="+mn-lt"/>
                <a:cs typeface="+mn-lt"/>
              </a:rPr>
              <a:t>Comparative Analysis: CNN-only vs. Hybrid Model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C9275D-DB5E-8859-84A0-8E6726135431}"/>
              </a:ext>
            </a:extLst>
          </p:cNvPr>
          <p:cNvSpPr txBox="1"/>
          <p:nvPr/>
        </p:nvSpPr>
        <p:spPr>
          <a:xfrm>
            <a:off x="695068" y="2957189"/>
            <a:ext cx="1251121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b="1" dirty="0">
                <a:ea typeface="+mn-lt"/>
                <a:cs typeface="+mn-lt"/>
              </a:rPr>
              <a:t>  </a:t>
            </a:r>
            <a:r>
              <a:rPr lang="en-US" dirty="0">
                <a:ea typeface="+mn-lt"/>
                <a:cs typeface="+mn-lt"/>
              </a:rPr>
              <a:t> The CNN-only model demonstrated higher error metrics (RMSE</a:t>
            </a:r>
            <a:r>
              <a:rPr lang="en-US" sz="1800" baseline="0" dirty="0">
                <a:ea typeface="+mn-lt"/>
                <a:cs typeface="+mn-lt"/>
              </a:rPr>
              <a:t>: </a:t>
            </a:r>
            <a:r>
              <a:rPr lang="en-US" dirty="0">
                <a:ea typeface="+mn-lt"/>
                <a:cs typeface="+mn-lt"/>
              </a:rPr>
              <a:t>0.6102, MAE: 0.4989) compared to the Hybrid model.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97B37D-7427-9E2A-012F-870A06EA6EC6}"/>
              </a:ext>
            </a:extLst>
          </p:cNvPr>
          <p:cNvSpPr txBox="1"/>
          <p:nvPr/>
        </p:nvSpPr>
        <p:spPr>
          <a:xfrm>
            <a:off x="695068" y="3938637"/>
            <a:ext cx="11893378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  The hybrid approach provides several key advantages, including improved separation between risk classes and a better alignment with the physiological characteristics of neuropathy. Furthermore, this method results in enhanced model interpretability and more reliable, clinically meaningful predictions</a:t>
            </a:r>
          </a:p>
          <a:p>
            <a:pPr marL="285750" indent="-285750">
              <a:buFont typeface="Arial,Sans-Serif"/>
              <a:buChar char="•"/>
            </a:pPr>
            <a:endParaRPr lang="en-US" dirty="0"/>
          </a:p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2D2F92-E3CA-7054-1B9F-311F10AC3BA8}"/>
              </a:ext>
            </a:extLst>
          </p:cNvPr>
          <p:cNvSpPr txBox="1"/>
          <p:nvPr/>
        </p:nvSpPr>
        <p:spPr>
          <a:xfrm>
            <a:off x="695068" y="5420499"/>
            <a:ext cx="91440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,Sans-Serif"/>
              <a:buChar char="•"/>
            </a:pPr>
            <a:r>
              <a:rPr lang="en-US" sz="1800" baseline="0" dirty="0">
                <a:ea typeface="+mn-lt"/>
                <a:cs typeface="+mn-lt"/>
              </a:rPr>
              <a:t> </a:t>
            </a:r>
            <a:r>
              <a:rPr lang="en-US" dirty="0">
                <a:ea typeface="+mn-lt"/>
                <a:cs typeface="+mn-lt"/>
              </a:rPr>
              <a:t>Handcrafted thermal features are essential for precise neuropathy risk estimation</a:t>
            </a:r>
            <a:endParaRPr lang="en-US" sz="1800" dirty="0">
              <a:latin typeface="Trebuchet MS"/>
              <a:ea typeface="Arial"/>
              <a:cs typeface="Arial"/>
            </a:endParaRPr>
          </a:p>
          <a:p>
            <a:pPr marL="285750" lvl="0" indent="-285750" algn="ctr" rtl="0">
              <a:buFont typeface="Arial,Sans-Serif"/>
              <a:buChar char="•"/>
            </a:pPr>
            <a:endParaRPr lang="en-US" dirty="0">
              <a:latin typeface="Arial"/>
              <a:ea typeface="Arial"/>
              <a:cs typeface="Arial"/>
            </a:endParaRPr>
          </a:p>
          <a:p>
            <a:pPr algn="ctr"/>
            <a:endParaRPr lang="en-US" dirty="0"/>
          </a:p>
        </p:txBody>
      </p:sp>
      <p:pic>
        <p:nvPicPr>
          <p:cNvPr id="15" name="Picture 14" descr="A logo of a science and technology university&#10;&#10;AI-generated content may be incorrect.">
            <a:extLst>
              <a:ext uri="{FF2B5EF4-FFF2-40B4-BE49-F238E27FC236}">
                <a16:creationId xmlns:a16="http://schemas.microsoft.com/office/drawing/2014/main" id="{F33B0C08-A009-C951-D8AD-2DEFF4B41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3886" y="0"/>
            <a:ext cx="2924175" cy="15621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9697102-C308-D7A6-3A90-BBBDF28BA8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7021" y="7573919"/>
            <a:ext cx="7562850" cy="165735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AAD935D-C4E2-D4A4-9CA8-D9C5A97FD768}"/>
              </a:ext>
            </a:extLst>
          </p:cNvPr>
          <p:cNvSpPr txBox="1"/>
          <p:nvPr/>
        </p:nvSpPr>
        <p:spPr>
          <a:xfrm>
            <a:off x="2857500" y="9499256"/>
            <a:ext cx="91440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IN" i="1">
                <a:latin typeface="Times New Roman"/>
                <a:ea typeface="Calibri"/>
                <a:cs typeface="Times New Roman"/>
              </a:rPr>
              <a:t>Hybrid features model</a:t>
            </a:r>
            <a:endParaRPr lang="en-US" i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4D8F25E-4E19-E11F-1E79-DA0BB7F3AB02}"/>
              </a:ext>
            </a:extLst>
          </p:cNvPr>
          <p:cNvSpPr txBox="1"/>
          <p:nvPr/>
        </p:nvSpPr>
        <p:spPr>
          <a:xfrm>
            <a:off x="10863710" y="9502898"/>
            <a:ext cx="9144000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i="1">
                <a:latin typeface="Times New Roman"/>
                <a:ea typeface="+mn-lt"/>
                <a:cs typeface="Times New Roman"/>
              </a:rPr>
              <a:t>CNN-features only model</a:t>
            </a:r>
            <a:endParaRPr lang="en-US" i="1">
              <a:latin typeface="Times New Roman"/>
              <a:cs typeface="Times New Roman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9560FF5-CB6E-B7A0-51EF-F5FA92918E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719" y="7577388"/>
            <a:ext cx="8268848" cy="1673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0613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2037DBB-2346-E123-93ED-45DAB2A91DAA}"/>
              </a:ext>
            </a:extLst>
          </p:cNvPr>
          <p:cNvSpPr txBox="1"/>
          <p:nvPr/>
        </p:nvSpPr>
        <p:spPr>
          <a:xfrm>
            <a:off x="504033" y="1491097"/>
            <a:ext cx="16066050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400">
                <a:solidFill>
                  <a:srgbClr val="282824"/>
                </a:solidFill>
                <a:ea typeface="+mn-lt"/>
                <a:cs typeface="+mn-lt"/>
              </a:rPr>
              <a:t>Desktop Application for Real-time Prediction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14861D-7252-FA0D-50CA-71E89CAF3230}"/>
              </a:ext>
            </a:extLst>
          </p:cNvPr>
          <p:cNvSpPr txBox="1"/>
          <p:nvPr/>
        </p:nvSpPr>
        <p:spPr>
          <a:xfrm>
            <a:off x="694921" y="2914807"/>
            <a:ext cx="1268230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ea typeface="+mn-lt"/>
                <a:cs typeface="+mn-lt"/>
              </a:rPr>
              <a:t>Python-based User Interface </a:t>
            </a:r>
            <a:endParaRPr lang="en-US" b="1"/>
          </a:p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8B280A-D9A1-F22E-72E1-20FCABB9E5B0}"/>
              </a:ext>
            </a:extLst>
          </p:cNvPr>
          <p:cNvSpPr txBox="1"/>
          <p:nvPr/>
        </p:nvSpPr>
        <p:spPr>
          <a:xfrm>
            <a:off x="695068" y="3722473"/>
            <a:ext cx="1226407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ea typeface="+mn-lt"/>
                <a:cs typeface="+mn-lt"/>
              </a:rPr>
              <a:t>Framework</a:t>
            </a:r>
            <a:r>
              <a:rPr lang="en-US">
                <a:ea typeface="+mn-lt"/>
                <a:cs typeface="+mn-lt"/>
              </a:rPr>
              <a:t>: Developed using the </a:t>
            </a:r>
            <a:r>
              <a:rPr lang="en-US" b="1" err="1">
                <a:ea typeface="+mn-lt"/>
                <a:cs typeface="+mn-lt"/>
              </a:rPr>
              <a:t>Tkinter</a:t>
            </a:r>
            <a:r>
              <a:rPr lang="en-US">
                <a:ea typeface="+mn-lt"/>
                <a:cs typeface="+mn-lt"/>
              </a:rPr>
              <a:t> library for a lightweight and efficient GUI.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C901A1-C3EC-211E-814C-3815E4C2F374}"/>
              </a:ext>
            </a:extLst>
          </p:cNvPr>
          <p:cNvSpPr txBox="1"/>
          <p:nvPr/>
        </p:nvSpPr>
        <p:spPr>
          <a:xfrm>
            <a:off x="695068" y="4371203"/>
            <a:ext cx="12511214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 Core Components</a:t>
            </a:r>
            <a:r>
              <a:rPr lang="en-US">
                <a:ea typeface="+mn-lt"/>
                <a:cs typeface="+mn-lt"/>
              </a:rPr>
              <a:t>:</a:t>
            </a:r>
          </a:p>
          <a:p>
            <a:pPr>
              <a:buFont typeface="Arial"/>
              <a:buChar char="•"/>
            </a:pPr>
            <a:endParaRPr lang="en-US">
              <a:ea typeface="+mn-lt"/>
              <a:cs typeface="+mn-lt"/>
            </a:endParaRPr>
          </a:p>
          <a:p>
            <a:r>
              <a:rPr lang="en-US" b="1">
                <a:ea typeface="+mn-lt"/>
                <a:cs typeface="+mn-lt"/>
              </a:rPr>
              <a:t>        Image Display Panel</a:t>
            </a:r>
            <a:r>
              <a:rPr lang="en-US">
                <a:ea typeface="+mn-lt"/>
                <a:cs typeface="+mn-lt"/>
              </a:rPr>
              <a:t>: Shows the uploaded thermal foot image.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        Control Buttons</a:t>
            </a:r>
            <a:r>
              <a:rPr lang="en-US" sz="1800" baseline="0">
                <a:ea typeface="+mn-lt"/>
                <a:cs typeface="+mn-lt"/>
              </a:rPr>
              <a:t>: </a:t>
            </a:r>
            <a:r>
              <a:rPr lang="en-US">
                <a:ea typeface="+mn-lt"/>
                <a:cs typeface="+mn-lt"/>
              </a:rPr>
              <a:t>For image uploading and triggering risk prediction.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        Result Area</a:t>
            </a:r>
            <a:r>
              <a:rPr lang="en-US">
                <a:ea typeface="+mn-lt"/>
                <a:cs typeface="+mn-lt"/>
              </a:rPr>
              <a:t>: Displays the predicted risk level (Low, Moderate, High) and numerical score.</a:t>
            </a:r>
          </a:p>
          <a:p>
            <a:pPr>
              <a:buFont typeface="Arial"/>
              <a:buChar char="•"/>
            </a:pPr>
            <a:endParaRPr lang="en-US"/>
          </a:p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505172-DD2A-6158-AFA0-D84B1A96C71E}"/>
              </a:ext>
            </a:extLst>
          </p:cNvPr>
          <p:cNvSpPr txBox="1"/>
          <p:nvPr/>
        </p:nvSpPr>
        <p:spPr>
          <a:xfrm>
            <a:off x="695068" y="6132040"/>
            <a:ext cx="914400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,Sans-Serif"/>
              <a:buChar char="•"/>
            </a:pPr>
            <a:r>
              <a:rPr lang="en-US" b="1">
                <a:ea typeface="+mn-lt"/>
                <a:cs typeface="+mn-lt"/>
              </a:rPr>
              <a:t>Runtime Models</a:t>
            </a:r>
            <a:r>
              <a:rPr lang="en-US" sz="1800" baseline="0">
                <a:ea typeface="+mn-lt"/>
                <a:cs typeface="+mn-lt"/>
              </a:rPr>
              <a:t>: </a:t>
            </a:r>
            <a:r>
              <a:rPr lang="en-US">
                <a:ea typeface="+mn-lt"/>
                <a:cs typeface="+mn-lt"/>
              </a:rPr>
              <a:t>Loads the MobileNetV2 feature extractor, </a:t>
            </a:r>
            <a:r>
              <a:rPr lang="en-US" err="1">
                <a:ea typeface="+mn-lt"/>
                <a:cs typeface="+mn-lt"/>
              </a:rPr>
              <a:t>StandardScaler</a:t>
            </a:r>
            <a:r>
              <a:rPr lang="en-US">
                <a:ea typeface="+mn-lt"/>
                <a:cs typeface="+mn-lt"/>
              </a:rPr>
              <a:t>, and </a:t>
            </a:r>
            <a:r>
              <a:rPr lang="en-US" err="1">
                <a:ea typeface="+mn-lt"/>
                <a:cs typeface="+mn-lt"/>
              </a:rPr>
              <a:t>XGBoost</a:t>
            </a:r>
            <a:r>
              <a:rPr lang="en-US">
                <a:ea typeface="+mn-lt"/>
                <a:cs typeface="+mn-lt"/>
              </a:rPr>
              <a:t> regressor simultaneously.</a:t>
            </a:r>
            <a:endParaRPr lang="en-US" sz="1800">
              <a:latin typeface="Trebuchet MS"/>
              <a:ea typeface="Arial"/>
              <a:cs typeface="Arial"/>
            </a:endParaRPr>
          </a:p>
          <a:p>
            <a:pPr marL="285750" lvl="0" indent="-285750" algn="ctr" rtl="0">
              <a:buFont typeface="Arial,Sans-Serif"/>
              <a:buChar char="•"/>
            </a:pPr>
            <a:endParaRPr lang="en-US">
              <a:latin typeface="Arial"/>
              <a:ea typeface="Arial"/>
              <a:cs typeface="Arial"/>
            </a:endParaRPr>
          </a:p>
          <a:p>
            <a:pPr algn="ctr"/>
            <a:endParaRPr lang="en-US"/>
          </a:p>
        </p:txBody>
      </p:sp>
      <p:pic>
        <p:nvPicPr>
          <p:cNvPr id="15" name="Picture 14" descr="A logo of a science and technology university&#10;&#10;AI-generated content may be incorrect.">
            <a:extLst>
              <a:ext uri="{FF2B5EF4-FFF2-40B4-BE49-F238E27FC236}">
                <a16:creationId xmlns:a16="http://schemas.microsoft.com/office/drawing/2014/main" id="{9E8D45CE-FF46-0D44-3A6B-A3E5F3EAB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3886" y="0"/>
            <a:ext cx="2924175" cy="156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1535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A40776B-3A94-8700-823D-71B4F0202CDF}"/>
              </a:ext>
            </a:extLst>
          </p:cNvPr>
          <p:cNvSpPr txBox="1"/>
          <p:nvPr/>
        </p:nvSpPr>
        <p:spPr>
          <a:xfrm>
            <a:off x="504033" y="1491097"/>
            <a:ext cx="16066050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400">
                <a:solidFill>
                  <a:srgbClr val="282824"/>
                </a:solidFill>
                <a:ea typeface="+mn-lt"/>
                <a:cs typeface="+mn-lt"/>
              </a:rPr>
              <a:t>Application Workflow and Risk Mapping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1DA42F-3FB2-ACA1-1E62-9198D6DBB7CE}"/>
              </a:ext>
            </a:extLst>
          </p:cNvPr>
          <p:cNvSpPr txBox="1"/>
          <p:nvPr/>
        </p:nvSpPr>
        <p:spPr>
          <a:xfrm>
            <a:off x="694921" y="2914807"/>
            <a:ext cx="1268230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ea typeface="+mn-lt"/>
                <a:cs typeface="+mn-lt"/>
              </a:rPr>
              <a:t>System Process</a:t>
            </a:r>
            <a:endParaRPr lang="en-US" b="1"/>
          </a:p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34F70A-A0EC-8EF9-C9EB-DC11DE911EC4}"/>
              </a:ext>
            </a:extLst>
          </p:cNvPr>
          <p:cNvSpPr txBox="1"/>
          <p:nvPr/>
        </p:nvSpPr>
        <p:spPr>
          <a:xfrm>
            <a:off x="695068" y="3722473"/>
            <a:ext cx="1226407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ea typeface="+mn-lt"/>
                <a:cs typeface="+mn-lt"/>
              </a:rPr>
              <a:t>Image Upload</a:t>
            </a:r>
            <a:r>
              <a:rPr lang="en-US">
                <a:ea typeface="+mn-lt"/>
                <a:cs typeface="+mn-lt"/>
              </a:rPr>
              <a:t>: Supports PNG/JPG thermal image formats.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7F764D-338D-1F1A-82CB-FE014343210F}"/>
              </a:ext>
            </a:extLst>
          </p:cNvPr>
          <p:cNvSpPr txBox="1"/>
          <p:nvPr/>
        </p:nvSpPr>
        <p:spPr>
          <a:xfrm>
            <a:off x="695068" y="4247635"/>
            <a:ext cx="1251121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  Hybrid Extraction</a:t>
            </a:r>
            <a:r>
              <a:rPr lang="en-US">
                <a:ea typeface="+mn-lt"/>
                <a:cs typeface="+mn-lt"/>
              </a:rPr>
              <a:t>: Generates 1292 total features (1280 CNN + 12 Thermal).</a:t>
            </a: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83F8DB-1896-D6C4-40BF-4E5DC6221369}"/>
              </a:ext>
            </a:extLst>
          </p:cNvPr>
          <p:cNvSpPr txBox="1"/>
          <p:nvPr/>
        </p:nvSpPr>
        <p:spPr>
          <a:xfrm>
            <a:off x="695068" y="5622324"/>
            <a:ext cx="91440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,Sans-Serif"/>
              <a:buChar char="•"/>
            </a:pPr>
            <a:r>
              <a:rPr lang="en-US" b="1">
                <a:ea typeface="+mn-lt"/>
                <a:cs typeface="+mn-lt"/>
              </a:rPr>
              <a:t>Risk Prediction</a:t>
            </a:r>
            <a:r>
              <a:rPr lang="en-US" sz="1800" baseline="0">
                <a:ea typeface="+mn-lt"/>
                <a:cs typeface="+mn-lt"/>
              </a:rPr>
              <a:t>: </a:t>
            </a:r>
            <a:r>
              <a:rPr lang="en-US" err="1">
                <a:ea typeface="+mn-lt"/>
                <a:cs typeface="+mn-lt"/>
              </a:rPr>
              <a:t>XGBoost</a:t>
            </a:r>
            <a:r>
              <a:rPr lang="en-US">
                <a:ea typeface="+mn-lt"/>
                <a:cs typeface="+mn-lt"/>
              </a:rPr>
              <a:t> regressor computes a continuous risk score</a:t>
            </a:r>
            <a:endParaRPr lang="en-US"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842059-5E8C-F13C-E431-53F1E0D5884B}"/>
              </a:ext>
            </a:extLst>
          </p:cNvPr>
          <p:cNvSpPr txBox="1"/>
          <p:nvPr/>
        </p:nvSpPr>
        <p:spPr>
          <a:xfrm>
            <a:off x="695068" y="4819136"/>
            <a:ext cx="9144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28600" indent="-228600">
              <a:buFont typeface="Arial,Sans-Serif"/>
              <a:buChar char="•"/>
            </a:pPr>
            <a:r>
              <a:rPr lang="en-US" b="1">
                <a:ea typeface="+mn-lt"/>
                <a:cs typeface="+mn-lt"/>
              </a:rPr>
              <a:t>Feature Scaling</a:t>
            </a:r>
            <a:r>
              <a:rPr lang="en-US" sz="1800" baseline="0">
                <a:ea typeface="+mn-lt"/>
                <a:cs typeface="+mn-lt"/>
              </a:rPr>
              <a:t>: </a:t>
            </a:r>
            <a:r>
              <a:rPr lang="en-US">
                <a:ea typeface="+mn-lt"/>
                <a:cs typeface="+mn-lt"/>
              </a:rPr>
              <a:t>Normalizes the combined vector using a pre-trained </a:t>
            </a:r>
            <a:r>
              <a:rPr lang="en-US" b="1" err="1">
                <a:ea typeface="+mn-lt"/>
                <a:cs typeface="+mn-lt"/>
              </a:rPr>
              <a:t>StandardScaler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61BB6A-0375-D4C0-B9EF-03C98E7400C9}"/>
              </a:ext>
            </a:extLst>
          </p:cNvPr>
          <p:cNvSpPr txBox="1"/>
          <p:nvPr/>
        </p:nvSpPr>
        <p:spPr>
          <a:xfrm>
            <a:off x="695068" y="6193824"/>
            <a:ext cx="9144000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  Output Mapping</a:t>
            </a:r>
            <a:r>
              <a:rPr lang="en-US">
                <a:ea typeface="+mn-lt"/>
                <a:cs typeface="+mn-lt"/>
              </a:rPr>
              <a:t>:</a:t>
            </a:r>
            <a:endParaRPr lang="en-US"/>
          </a:p>
          <a:p>
            <a:pPr>
              <a:buFont typeface="Arial"/>
              <a:buChar char="•"/>
            </a:pPr>
            <a:endParaRPr lang="en-US">
              <a:ea typeface="+mn-lt"/>
              <a:cs typeface="+mn-lt"/>
            </a:endParaRPr>
          </a:p>
          <a:p>
            <a:r>
              <a:rPr lang="en-US" b="1">
                <a:ea typeface="+mn-lt"/>
                <a:cs typeface="+mn-lt"/>
              </a:rPr>
              <a:t>   Low Risk</a:t>
            </a:r>
            <a:r>
              <a:rPr lang="en-US">
                <a:ea typeface="+mn-lt"/>
                <a:cs typeface="+mn-lt"/>
              </a:rPr>
              <a:t>: Score &lt;= 0.5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   Medium Risk</a:t>
            </a:r>
            <a:r>
              <a:rPr lang="en-US">
                <a:ea typeface="+mn-lt"/>
                <a:cs typeface="+mn-lt"/>
              </a:rPr>
              <a:t>: 0.5 - 1.5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   High </a:t>
            </a:r>
            <a:r>
              <a:rPr lang="en-US" sz="1800" b="1" baseline="0">
                <a:ea typeface="+mn-lt"/>
                <a:cs typeface="+mn-lt"/>
              </a:rPr>
              <a:t>Risk</a:t>
            </a:r>
            <a:r>
              <a:rPr lang="en-US" sz="1800" baseline="0">
                <a:ea typeface="+mn-lt"/>
                <a:cs typeface="+mn-lt"/>
              </a:rPr>
              <a:t>:</a:t>
            </a:r>
            <a:r>
              <a:rPr lang="en-US">
                <a:ea typeface="+mn-lt"/>
                <a:cs typeface="+mn-lt"/>
              </a:rPr>
              <a:t> Score &gt; 1.5</a:t>
            </a:r>
            <a:endParaRPr lang="en-US"/>
          </a:p>
          <a:p>
            <a:pPr marL="285750" indent="-285750">
              <a:buFont typeface="Arial,Sans-Serif"/>
              <a:buChar char="•"/>
            </a:pPr>
            <a:endParaRPr lang="en-US">
              <a:cs typeface="Arial"/>
            </a:endParaRPr>
          </a:p>
        </p:txBody>
      </p:sp>
      <p:pic>
        <p:nvPicPr>
          <p:cNvPr id="15" name="Picture 14" descr="A logo of a science and technology university&#10;&#10;AI-generated content may be incorrect.">
            <a:extLst>
              <a:ext uri="{FF2B5EF4-FFF2-40B4-BE49-F238E27FC236}">
                <a16:creationId xmlns:a16="http://schemas.microsoft.com/office/drawing/2014/main" id="{9A436C49-618D-B103-848E-ABC6404863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07548" y="0"/>
            <a:ext cx="2924175" cy="156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96417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935</Words>
  <Application>Microsoft Office PowerPoint</Application>
  <PresentationFormat>Custom</PresentationFormat>
  <Paragraphs>130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Lato</vt:lpstr>
      <vt:lpstr>Arial,Sans-Serif</vt:lpstr>
      <vt:lpstr>Arial</vt:lpstr>
      <vt:lpstr>Wingdings 3</vt:lpstr>
      <vt:lpstr>Lato Bold</vt:lpstr>
      <vt:lpstr>Trebuchet MS</vt:lpstr>
      <vt:lpstr>Times New Roman</vt:lpstr>
      <vt:lpstr>Facet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SHAM T</dc:creator>
  <cp:lastModifiedBy>SHAM T</cp:lastModifiedBy>
  <cp:revision>2</cp:revision>
  <dcterms:created xsi:type="dcterms:W3CDTF">2006-08-16T00:00:00Z</dcterms:created>
  <dcterms:modified xsi:type="dcterms:W3CDTF">2026-03-25T19:04:28Z</dcterms:modified>
  <dc:identifier>DAG75FFc_xU</dc:identifier>
</cp:coreProperties>
</file>