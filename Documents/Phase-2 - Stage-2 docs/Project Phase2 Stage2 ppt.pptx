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22" r:id="rId1"/>
  </p:sldMasterIdLst>
  <p:sldIdLst>
    <p:sldId id="270" r:id="rId2"/>
    <p:sldId id="256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72" r:id="rId15"/>
    <p:sldId id="273" r:id="rId16"/>
    <p:sldId id="274" r:id="rId17"/>
  </p:sldIdLst>
  <p:sldSz cx="18288000" cy="10287000"/>
  <p:notesSz cx="6858000" cy="9144000"/>
  <p:embeddedFontLst>
    <p:embeddedFont>
      <p:font typeface="Lato" panose="020B0604020202020204" charset="0"/>
      <p:regular r:id="rId18"/>
      <p:bold r:id="rId19"/>
      <p:italic r:id="rId20"/>
      <p:boldItalic r:id="rId21"/>
    </p:embeddedFont>
    <p:embeddedFont>
      <p:font typeface="Lato Bold" panose="020B0604020202020204" charset="0"/>
      <p:regular r:id="rId22"/>
      <p:bold r:id="rId23"/>
    </p:embeddedFont>
    <p:embeddedFont>
      <p:font typeface="Trebuchet MS" panose="020B0603020202020204" pitchFamily="34" charset="0"/>
      <p:regular r:id="rId24"/>
      <p:bold r:id="rId25"/>
      <p:italic r:id="rId26"/>
      <p:boldItalic r:id="rId27"/>
    </p:embeddedFont>
    <p:embeddedFont>
      <p:font typeface="Wingdings 3" panose="05040102010807070707" pitchFamily="18" charset="2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581FA-DA80-4600-AB06-37A074560BBD}" v="816" dt="2026-03-25T18:36:27.076"/>
    <p1510:client id="{AC8AE3F1-5895-77BE-0FF7-012C43B0CD8D}" v="16" dt="2026-03-25T18:05:12.692"/>
    <p1510:client id="{B03ED4C3-BE3D-4028-8935-D3EAA3B5C102}" v="38" dt="2026-03-25T18:55:17.9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833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8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8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2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40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8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7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0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5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26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0684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55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0835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52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96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3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4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636E19-7D2B-1BBD-8DE9-B18AE144D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481149"/>
              </p:ext>
            </p:extLst>
          </p:nvPr>
        </p:nvGraphicFramePr>
        <p:xfrm>
          <a:off x="4421457" y="4219807"/>
          <a:ext cx="76962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968652794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266955416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r>
                        <a:rPr lang="en-US"/>
                        <a:t>Name 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USN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84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Agasthya Samyak </a:t>
                      </a:r>
                      <a:r>
                        <a:rPr lang="en-IN" sz="2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Jnan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02JST22UCS006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30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Jayanth 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02JST22UCS043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95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Arvind Ningombam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02JST22US017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Prajwal T P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01JST21CS099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7831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95ACFB-F193-F21A-6EFA-4A0D7F9CBEAC}"/>
              </a:ext>
            </a:extLst>
          </p:cNvPr>
          <p:cNvSpPr txBox="1"/>
          <p:nvPr/>
        </p:nvSpPr>
        <p:spPr>
          <a:xfrm>
            <a:off x="2135458" y="1283319"/>
            <a:ext cx="12268200" cy="2654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50" dirty="0">
                <a:latin typeface="Lato Bold" panose="020F0502020204030203" charset="0"/>
                <a:ea typeface="Lato Bold" panose="020F0502020204030203" charset="0"/>
                <a:cs typeface="Lato Bold" panose="020F0502020204030203" charset="0"/>
              </a:rPr>
              <a:t>Thermal Foot Analysis for Prediction of Diabetic Peripheral Neuropathy using ML</a:t>
            </a:r>
            <a:endParaRPr lang="en-IN" sz="5550" dirty="0">
              <a:latin typeface="Lato Bold" panose="020F0502020204030203" charset="0"/>
              <a:ea typeface="Lato Bold" panose="020F0502020204030203" charset="0"/>
              <a:cs typeface="Lato Bold" panose="020F0502020204030203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97975-480D-DA0A-B745-ADCCBF4CE354}"/>
              </a:ext>
            </a:extLst>
          </p:cNvPr>
          <p:cNvSpPr txBox="1"/>
          <p:nvPr/>
        </p:nvSpPr>
        <p:spPr>
          <a:xfrm>
            <a:off x="6343851" y="7016322"/>
            <a:ext cx="3851413" cy="1951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5016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b="1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</a:t>
            </a:r>
            <a:endParaRPr lang="en-US" sz="2000" b="0" i="0" u="none" strike="noStrike" cap="none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lang="en-US" sz="2000" b="0" i="0" u="none" strike="noStrike" cap="none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</a:t>
            </a:r>
            <a:r>
              <a:rPr lang="en-US" sz="20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Amaresh A M</a:t>
            </a:r>
            <a:endParaRPr lang="en-US" sz="2000" b="0" i="0" u="none" strike="noStrike" cap="none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Assistant Professor </a:t>
            </a: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CS&amp;E </a:t>
            </a: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SJCE, JSS STU Mysuru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D8DCE3-8C27-AEBE-D465-C393C54AD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86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295400" y="2324100"/>
            <a:ext cx="708823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400" y="3578123"/>
            <a:ext cx="10210800" cy="40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Diabetes mellitus is a chronic metabolic disorder affecting millions worldwide.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400" y="4804315"/>
            <a:ext cx="14249400" cy="40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One of its serious complications is diabetic peripheral neuropathy, which can lead to foot ulcers and amputations.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5400" y="6030506"/>
            <a:ext cx="12649200" cy="40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Early identification of abnormal foot conditions is crucial to prevent severe outcomes.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5400" y="7256707"/>
            <a:ext cx="14706600" cy="40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Infrared thermal imaging provides a non-invasive, contactless, and safe method to observe foot temperature patterns.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8AA0C8-912F-6DEB-6831-67709A17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9080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5680CE0-5E6A-C59E-C24B-F1AB7898421B}"/>
              </a:ext>
            </a:extLst>
          </p:cNvPr>
          <p:cNvSpPr txBox="1"/>
          <p:nvPr/>
        </p:nvSpPr>
        <p:spPr>
          <a:xfrm>
            <a:off x="992238" y="2464889"/>
            <a:ext cx="9828162" cy="815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Motivation and Project Focus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ABD0C5-C7D5-B448-A9C5-F452F80C2BF3}"/>
              </a:ext>
            </a:extLst>
          </p:cNvPr>
          <p:cNvSpPr txBox="1"/>
          <p:nvPr/>
        </p:nvSpPr>
        <p:spPr>
          <a:xfrm>
            <a:off x="992238" y="4389091"/>
            <a:ext cx="16303523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Neuropathic changes often manifest as thermal asymmetry and hotspots in thermal foot images.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D1F7D42-8A7E-3B66-0E10-B6CF149CDAAF}"/>
              </a:ext>
            </a:extLst>
          </p:cNvPr>
          <p:cNvSpPr txBox="1"/>
          <p:nvPr/>
        </p:nvSpPr>
        <p:spPr>
          <a:xfrm>
            <a:off x="992238" y="5161655"/>
            <a:ext cx="16303523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Manual interpretation of thermal images is subjective and requires expert knowledge.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2E7F2C-17AF-0105-9600-9E9CF3DDDECE}"/>
              </a:ext>
            </a:extLst>
          </p:cNvPr>
          <p:cNvSpPr txBox="1"/>
          <p:nvPr/>
        </p:nvSpPr>
        <p:spPr>
          <a:xfrm>
            <a:off x="992238" y="5934227"/>
            <a:ext cx="16303523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Machine learning and deep learning can automate thermal pattern analysis.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0326DCF-ADE8-E4C2-343D-339327BB585F}"/>
              </a:ext>
            </a:extLst>
          </p:cNvPr>
          <p:cNvSpPr txBox="1"/>
          <p:nvPr/>
        </p:nvSpPr>
        <p:spPr>
          <a:xfrm>
            <a:off x="992238" y="6706791"/>
            <a:ext cx="16303523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project focuses on risk classification (Low / Moderate / High), not medical diagnosis.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E57E13-AEAA-C9D0-6AB4-8CCDB42C8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4775" y="34787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3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41004" y="484737"/>
            <a:ext cx="7496623" cy="59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Literature Review: Existing Research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641004" y="1442447"/>
            <a:ext cx="10932766" cy="7841752"/>
          </a:xfrm>
          <a:custGeom>
            <a:avLst/>
            <a:gdLst/>
            <a:ahLst/>
            <a:cxnLst/>
            <a:rect l="l" t="t" r="r" b="b"/>
            <a:pathLst>
              <a:path w="10932766" h="7841752">
                <a:moveTo>
                  <a:pt x="0" y="0"/>
                </a:moveTo>
                <a:lnTo>
                  <a:pt x="10932766" y="0"/>
                </a:lnTo>
                <a:lnTo>
                  <a:pt x="10932766" y="7841751"/>
                </a:lnTo>
                <a:lnTo>
                  <a:pt x="0" y="7841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" r="-25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B59F31-DEB8-6076-DDA0-E96FEA799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4775" y="34787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575027"/>
            <a:ext cx="758874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Identified Research Gap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098499" y="4074909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913630" y="4047087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Risk Stratification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13630" y="4583906"/>
            <a:ext cx="7053110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Most existing works focus on binary diagnosis, not risk stratification.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427369" y="4074909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0242499" y="4047087"/>
            <a:ext cx="385331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CNN Output Integration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2499" y="4583906"/>
            <a:ext cx="705326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Limited integration of CNN outputs with global thermal statistical features.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098499" y="616222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913630" y="6134395"/>
            <a:ext cx="5094237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Lightweight CNN Benchmarking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3630" y="6671224"/>
            <a:ext cx="7053110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Few studies benchmark lightweight CNNs for thermal foot images.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427369" y="616222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0242499" y="6134395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Project Focus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42499" y="6671224"/>
            <a:ext cx="705326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project addresses these gaps through a hybrid, risk-based framework.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F68E8F-782C-FD5B-FB9E-7B3CFAD7E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603602"/>
            <a:ext cx="16303523" cy="181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Requirements and Analysis: Functional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885430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Load and preprocess thermal foot images.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438184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Perform data augmentation to expand dataset and improve generalization.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990930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Train CNN-based binary classifiers.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543675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Extract global thermal features from images based on medical thermography methods.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7096420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 risk scores based on classifier output and global thermal features and classify risk levels.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D0FFE6-E45A-6655-FAC3-CFAADEB0F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217239"/>
            <a:ext cx="9561462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Non-Functional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30984"/>
            <a:ext cx="445621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Reliability &amp; Reproducibility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481217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High reliability and reproducibility of results.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99397" y="3830984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Efficient Computation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397" y="4481217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Efficient computation suitable for limited resources.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86859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Modular &amp; Scalable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518824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Modular and scalable system design.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397" y="586859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Validity &amp; Ethics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397" y="6518824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Validation of outputs for medical relevance.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8C8B2F-86FE-6CCD-5504-FF08277E0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1894132"/>
            <a:ext cx="16303523" cy="181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Tools and Technologies Used: Software and Frameworks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4266457"/>
            <a:ext cx="16313048" cy="4093073"/>
            <a:chOff x="0" y="0"/>
            <a:chExt cx="21750731" cy="54574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782" cy="5457444"/>
            </a:xfrm>
            <a:custGeom>
              <a:avLst/>
              <a:gdLst/>
              <a:ahLst/>
              <a:cxnLst/>
              <a:rect l="l" t="t" r="r" b="b"/>
              <a:pathLst>
                <a:path w="21750782" h="5457444">
                  <a:moveTo>
                    <a:pt x="0" y="63119"/>
                  </a:moveTo>
                  <a:cubicBezTo>
                    <a:pt x="0" y="28194"/>
                    <a:pt x="28321" y="0"/>
                    <a:pt x="63246" y="0"/>
                  </a:cubicBezTo>
                  <a:lnTo>
                    <a:pt x="21687537" y="0"/>
                  </a:lnTo>
                  <a:lnTo>
                    <a:pt x="21687537" y="6350"/>
                  </a:lnTo>
                  <a:lnTo>
                    <a:pt x="21687537" y="0"/>
                  </a:lnTo>
                  <a:cubicBezTo>
                    <a:pt x="21722462" y="0"/>
                    <a:pt x="21750782" y="28194"/>
                    <a:pt x="21750782" y="63119"/>
                  </a:cubicBezTo>
                  <a:lnTo>
                    <a:pt x="21744432" y="63119"/>
                  </a:lnTo>
                  <a:lnTo>
                    <a:pt x="21750782" y="63119"/>
                  </a:lnTo>
                  <a:lnTo>
                    <a:pt x="21750782" y="5394325"/>
                  </a:lnTo>
                  <a:lnTo>
                    <a:pt x="21744432" y="5394325"/>
                  </a:lnTo>
                  <a:lnTo>
                    <a:pt x="21750782" y="5394325"/>
                  </a:lnTo>
                  <a:cubicBezTo>
                    <a:pt x="21750782" y="5429123"/>
                    <a:pt x="21722462" y="5457444"/>
                    <a:pt x="21687537" y="5457444"/>
                  </a:cubicBezTo>
                  <a:lnTo>
                    <a:pt x="21687537" y="5451094"/>
                  </a:lnTo>
                  <a:lnTo>
                    <a:pt x="21687537" y="5457444"/>
                  </a:lnTo>
                  <a:lnTo>
                    <a:pt x="63246" y="5457444"/>
                  </a:lnTo>
                  <a:lnTo>
                    <a:pt x="63246" y="5451094"/>
                  </a:lnTo>
                  <a:lnTo>
                    <a:pt x="63246" y="5457444"/>
                  </a:lnTo>
                  <a:cubicBezTo>
                    <a:pt x="28321" y="5457444"/>
                    <a:pt x="0" y="5429250"/>
                    <a:pt x="0" y="5394325"/>
                  </a:cubicBezTo>
                  <a:lnTo>
                    <a:pt x="0" y="63119"/>
                  </a:lnTo>
                  <a:lnTo>
                    <a:pt x="6350" y="63119"/>
                  </a:lnTo>
                  <a:lnTo>
                    <a:pt x="0" y="63119"/>
                  </a:lnTo>
                  <a:moveTo>
                    <a:pt x="12700" y="63119"/>
                  </a:moveTo>
                  <a:lnTo>
                    <a:pt x="12700" y="5394325"/>
                  </a:lnTo>
                  <a:lnTo>
                    <a:pt x="6350" y="5394325"/>
                  </a:lnTo>
                  <a:lnTo>
                    <a:pt x="12700" y="5394325"/>
                  </a:lnTo>
                  <a:cubicBezTo>
                    <a:pt x="12700" y="5422138"/>
                    <a:pt x="35306" y="5444744"/>
                    <a:pt x="63246" y="5444744"/>
                  </a:cubicBezTo>
                  <a:lnTo>
                    <a:pt x="21687537" y="5444744"/>
                  </a:lnTo>
                  <a:cubicBezTo>
                    <a:pt x="21715476" y="5444744"/>
                    <a:pt x="21738082" y="5422138"/>
                    <a:pt x="21738082" y="5394325"/>
                  </a:cubicBezTo>
                  <a:lnTo>
                    <a:pt x="21738082" y="63119"/>
                  </a:lnTo>
                  <a:cubicBezTo>
                    <a:pt x="21738082" y="35306"/>
                    <a:pt x="21715476" y="12700"/>
                    <a:pt x="21687537" y="12700"/>
                  </a:cubicBezTo>
                  <a:lnTo>
                    <a:pt x="63246" y="12700"/>
                  </a:lnTo>
                  <a:lnTo>
                    <a:pt x="63246" y="6350"/>
                  </a:lnTo>
                  <a:lnTo>
                    <a:pt x="63246" y="12700"/>
                  </a:lnTo>
                  <a:cubicBezTo>
                    <a:pt x="35306" y="12700"/>
                    <a:pt x="12700" y="35306"/>
                    <a:pt x="12700" y="6311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763" y="4280745"/>
            <a:ext cx="16284473" cy="812902"/>
            <a:chOff x="0" y="0"/>
            <a:chExt cx="21712631" cy="10838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85284" y="4365127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Programming Language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32284" y="4365127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1763" y="5093646"/>
            <a:ext cx="16284473" cy="812902"/>
            <a:chOff x="0" y="0"/>
            <a:chExt cx="21712631" cy="10838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85284" y="5178028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Deep Learning Framework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2284" y="5178028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TensorFlow / Keras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763" y="5906538"/>
            <a:ext cx="16284473" cy="812902"/>
            <a:chOff x="0" y="0"/>
            <a:chExt cx="21712631" cy="10838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85284" y="5990930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Image Processing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32284" y="5990930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NumPy, OpenCV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1763" y="6719440"/>
            <a:ext cx="16284473" cy="812902"/>
            <a:chOff x="0" y="0"/>
            <a:chExt cx="21712631" cy="10838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85284" y="6803822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Visualization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32284" y="6803822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Matplotlib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1763" y="7532341"/>
            <a:ext cx="16284473" cy="812902"/>
            <a:chOff x="0" y="0"/>
            <a:chExt cx="21712631" cy="10838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85284" y="7616723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Model Evaluation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32284" y="7616723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Scikit-learn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AF61B2C-4001-008E-08B1-D3A01C170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204885"/>
            <a:ext cx="708823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Models and Platform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18630"/>
            <a:ext cx="489495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Pretrained CNN Architectures: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468863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EfficientNet-B0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021609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MobileNetV2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397" y="3818630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Training Platform: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397" y="4468863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Google Colab, VS Code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397" y="528220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Dataset Handling: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397" y="5932437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Directory-based generators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397" y="6745786"/>
            <a:ext cx="411300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Experiment Management: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08922" y="7396010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Versioned model saving and experiment logging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E11EBF-045C-6CDA-4644-5A430DC31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8283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59491" y="734768"/>
            <a:ext cx="6853533" cy="875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74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Design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59491" y="2158756"/>
            <a:ext cx="14766579" cy="3743325"/>
          </a:xfrm>
          <a:custGeom>
            <a:avLst/>
            <a:gdLst/>
            <a:ahLst/>
            <a:cxnLst/>
            <a:rect l="l" t="t" r="r" b="b"/>
            <a:pathLst>
              <a:path w="14766579" h="3743325">
                <a:moveTo>
                  <a:pt x="0" y="0"/>
                </a:moveTo>
                <a:lnTo>
                  <a:pt x="14766579" y="0"/>
                </a:lnTo>
                <a:lnTo>
                  <a:pt x="14766579" y="3743325"/>
                </a:ln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" b="-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959491" y="6862172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CNNs learn complex spatial thermal patterns.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9491" y="7396610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Global thermal features add physiological interpretability.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491" y="7931048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Hybrid design improves robustness.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491" y="8465496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Risk-based output avoids clinical overclaiming.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9491" y="8999934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Modular pipeline enables easy extension.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93CC79-17F5-3B7B-DCA8-4F9E2AE6D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7D14AE3B-F4E5-37B3-94D7-9426547EBFBE}"/>
              </a:ext>
            </a:extLst>
          </p:cNvPr>
          <p:cNvSpPr txBox="1"/>
          <p:nvPr/>
        </p:nvSpPr>
        <p:spPr>
          <a:xfrm>
            <a:off x="794890" y="1546193"/>
            <a:ext cx="17340710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Implementation: Image Processing and CNN Model Training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9AFB2-F875-1713-68A6-CAD5A5B962C9}"/>
              </a:ext>
            </a:extLst>
          </p:cNvPr>
          <p:cNvSpPr txBox="1"/>
          <p:nvPr/>
        </p:nvSpPr>
        <p:spPr>
          <a:xfrm>
            <a:off x="761760" y="2552700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Thermal images are batched, shuffled, resized to 224x224, and normalized before training and validation.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BC964-9EDC-E575-D493-7D37FC639A8F}"/>
              </a:ext>
            </a:extLst>
          </p:cNvPr>
          <p:cNvSpPr txBox="1"/>
          <p:nvPr/>
        </p:nvSpPr>
        <p:spPr>
          <a:xfrm>
            <a:off x="761760" y="3195070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180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The training is done in two stages: feature extraction and fine tuning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CA7EC-119F-8B29-3C38-3B851E2FC79B}"/>
              </a:ext>
            </a:extLst>
          </p:cNvPr>
          <p:cNvSpPr txBox="1"/>
          <p:nvPr/>
        </p:nvSpPr>
        <p:spPr>
          <a:xfrm>
            <a:off x="761760" y="3837440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180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Pre trained layers are initially frozen to stabilize learning.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B4948-E909-F6B0-C64B-8906D17ED63B}"/>
              </a:ext>
            </a:extLst>
          </p:cNvPr>
          <p:cNvSpPr txBox="1"/>
          <p:nvPr/>
        </p:nvSpPr>
        <p:spPr>
          <a:xfrm>
            <a:off x="761760" y="4393253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180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Selected deeper layers unfrozen for fine tuning and better generalization.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E4DADA-898E-743B-82BA-A9B506793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101404"/>
            <a:ext cx="7696867" cy="29339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DF89BF-0207-62B6-F74B-8A57D1F08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5930039"/>
            <a:ext cx="8991600" cy="32766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3649EF-B9A5-5829-6B25-0B8D5AFB92AC}"/>
              </a:ext>
            </a:extLst>
          </p:cNvPr>
          <p:cNvSpPr txBox="1"/>
          <p:nvPr/>
        </p:nvSpPr>
        <p:spPr>
          <a:xfrm>
            <a:off x="761760" y="4946651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180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Performance of various models are evaluated using multiple metrics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52F2A2-9D64-6A8A-42D6-B4CDFE4D1A42}"/>
              </a:ext>
            </a:extLst>
          </p:cNvPr>
          <p:cNvSpPr txBox="1"/>
          <p:nvPr/>
        </p:nvSpPr>
        <p:spPr>
          <a:xfrm>
            <a:off x="1447800" y="941070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Comparison of performance of different Pre-trained CNN backbones.</a:t>
            </a:r>
            <a:endParaRPr lang="en-IN" i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1EB159-9882-88DB-2475-3CD45F6294A9}"/>
              </a:ext>
            </a:extLst>
          </p:cNvPr>
          <p:cNvSpPr txBox="1"/>
          <p:nvPr/>
        </p:nvSpPr>
        <p:spPr>
          <a:xfrm>
            <a:off x="9465245" y="9376125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Accuracy Plots of Training and Fine Tuning of MobileNetV2 based Classifier Model.</a:t>
            </a:r>
            <a:endParaRPr lang="en-IN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90628-F818-7FC6-964B-C5BFA4352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91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1A3CC3E7-1B72-5850-E04E-AF14AF2CF03F}"/>
              </a:ext>
            </a:extLst>
          </p:cNvPr>
          <p:cNvSpPr txBox="1"/>
          <p:nvPr/>
        </p:nvSpPr>
        <p:spPr>
          <a:xfrm>
            <a:off x="1066800" y="2552700"/>
            <a:ext cx="17340710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Implementation: Dataset Risk Labelling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8283E-BB8D-CFDA-5BB2-95EB0C2F57E5}"/>
              </a:ext>
            </a:extLst>
          </p:cNvPr>
          <p:cNvSpPr txBox="1"/>
          <p:nvPr/>
        </p:nvSpPr>
        <p:spPr>
          <a:xfrm>
            <a:off x="881510" y="374719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Risk labels generated using an unsupervised thermal analysis approach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18F5C9-89D4-12AD-CA10-2C97546657F4}"/>
              </a:ext>
            </a:extLst>
          </p:cNvPr>
          <p:cNvSpPr txBox="1"/>
          <p:nvPr/>
        </p:nvSpPr>
        <p:spPr>
          <a:xfrm>
            <a:off x="881510" y="4281888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Thermal features extracted from the HSV (V-channel) of foot thermograms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D24BB-B4C0-63E0-930D-5B04C146F54A}"/>
              </a:ext>
            </a:extLst>
          </p:cNvPr>
          <p:cNvSpPr txBox="1"/>
          <p:nvPr/>
        </p:nvSpPr>
        <p:spPr>
          <a:xfrm>
            <a:off x="864945" y="4816584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Computed features: mean temperature, standard deviation, entropy, and left–right asymmetry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E07370-33E1-C10B-E6FA-9548A81128A0}"/>
              </a:ext>
            </a:extLst>
          </p:cNvPr>
          <p:cNvSpPr txBox="1"/>
          <p:nvPr/>
        </p:nvSpPr>
        <p:spPr>
          <a:xfrm>
            <a:off x="894762" y="5351280"/>
            <a:ext cx="14445110" cy="936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Thermal Risk Score (TRS) calculated to quantify abnormal heat patterns</a:t>
            </a:r>
          </a:p>
          <a:p>
            <a:pPr marL="162123" lvl="1">
              <a:lnSpc>
                <a:spcPts val="3455"/>
              </a:lnSpc>
            </a:pPr>
            <a:r>
              <a:rPr lang="en-US" sz="180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                                                         </a:t>
            </a:r>
            <a:r>
              <a:rPr lang="en-IN"/>
              <a:t>TRS = 0.4×Mean + 0.3×Std + 0.3×Entropy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0F09D5-434E-6C0A-E922-1079BEBDE219}"/>
              </a:ext>
            </a:extLst>
          </p:cNvPr>
          <p:cNvSpPr txBox="1"/>
          <p:nvPr/>
        </p:nvSpPr>
        <p:spPr>
          <a:xfrm>
            <a:off x="881510" y="6334816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K-Means clustering (k = 3) applied on normalized thermal features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193E3D-352C-46FA-DC71-9899D2E3D8F6}"/>
              </a:ext>
            </a:extLst>
          </p:cNvPr>
          <p:cNvSpPr txBox="1"/>
          <p:nvPr/>
        </p:nvSpPr>
        <p:spPr>
          <a:xfrm>
            <a:off x="898075" y="686951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Clusters ranked by TRS and labeled as </a:t>
            </a:r>
            <a:r>
              <a:rPr lang="en-US" b="1"/>
              <a:t>Low, Moderate, and High risk</a:t>
            </a:r>
            <a:endParaRPr lang="en-US" sz="180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70F58-8B08-3483-FC28-736EA134E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0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876E9336-215E-CD78-A745-16F5EAC9BE5F}"/>
              </a:ext>
            </a:extLst>
          </p:cNvPr>
          <p:cNvSpPr txBox="1"/>
          <p:nvPr/>
        </p:nvSpPr>
        <p:spPr>
          <a:xfrm>
            <a:off x="762000" y="2095500"/>
            <a:ext cx="17340710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XGBOOST-based Risk Modelling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E6C6CB-3E0D-F267-6E52-646AC456F34E}"/>
              </a:ext>
            </a:extLst>
          </p:cNvPr>
          <p:cNvSpPr txBox="1"/>
          <p:nvPr/>
        </p:nvSpPr>
        <p:spPr>
          <a:xfrm>
            <a:off x="576710" y="328999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XGBoost regressor trained using fused CNN and thermal features</a:t>
            </a:r>
            <a:endParaRPr lang="en-US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C3B25-0B30-7BFA-0905-9992D148FAD8}"/>
              </a:ext>
            </a:extLst>
          </p:cNvPr>
          <p:cNvSpPr txBox="1"/>
          <p:nvPr/>
        </p:nvSpPr>
        <p:spPr>
          <a:xfrm>
            <a:off x="553519" y="3824688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Model predicts neuropathy risk on an ordinal risk scale</a:t>
            </a:r>
            <a:endParaRPr lang="en-US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87866-300C-570C-FAF7-F8773919E7AA}"/>
              </a:ext>
            </a:extLst>
          </p:cNvPr>
          <p:cNvSpPr txBox="1"/>
          <p:nvPr/>
        </p:nvSpPr>
        <p:spPr>
          <a:xfrm>
            <a:off x="553519" y="4376490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IN"/>
              <a:t>Risk interpretation:  0.0–0.5 → Low risk, 0.5–1.5 → Moderate risk,  &gt; 1.5 → High risk</a:t>
            </a:r>
            <a:endParaRPr lang="en-US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484B3F-3761-E48C-68BD-9E46C9344F66}"/>
              </a:ext>
            </a:extLst>
          </p:cNvPr>
          <p:cNvSpPr txBox="1"/>
          <p:nvPr/>
        </p:nvSpPr>
        <p:spPr>
          <a:xfrm>
            <a:off x="576710" y="492829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Dataset used: 21,660 training and 6,330 validation images (27,990 total)</a:t>
            </a:r>
            <a:endParaRPr lang="en-US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81FA8-14BC-8026-0A33-9F155BF178BD}"/>
              </a:ext>
            </a:extLst>
          </p:cNvPr>
          <p:cNvSpPr txBox="1"/>
          <p:nvPr/>
        </p:nvSpPr>
        <p:spPr>
          <a:xfrm>
            <a:off x="556832" y="5462988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Confusion matrix shows strong separation between risk categories</a:t>
            </a:r>
            <a:endParaRPr lang="en-US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C562E-A5F8-3DE9-4E1E-E9A4D70CD0BB}"/>
              </a:ext>
            </a:extLst>
          </p:cNvPr>
          <p:cNvSpPr txBox="1"/>
          <p:nvPr/>
        </p:nvSpPr>
        <p:spPr>
          <a:xfrm>
            <a:off x="576710" y="6031896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Minor overlap near boundaries, expected in medical ordinal prediction</a:t>
            </a:r>
            <a:endParaRPr lang="en-US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F58BC2-DE28-1C3F-0491-7BA85899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10" y="7083787"/>
            <a:ext cx="7346317" cy="21490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818A9F-501D-8AE9-2BB9-BF7FECBAD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827" y="7160348"/>
            <a:ext cx="8546875" cy="19208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8D6A59-A740-3426-A717-2061DF0FD323}"/>
              </a:ext>
            </a:extLst>
          </p:cNvPr>
          <p:cNvSpPr txBox="1"/>
          <p:nvPr/>
        </p:nvSpPr>
        <p:spPr>
          <a:xfrm>
            <a:off x="2786510" y="950289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Confusion Matrix</a:t>
            </a:r>
            <a:endParaRPr lang="en-IN" i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50FEF5-FB68-D509-54F0-685036D4D35B}"/>
              </a:ext>
            </a:extLst>
          </p:cNvPr>
          <p:cNvSpPr txBox="1"/>
          <p:nvPr/>
        </p:nvSpPr>
        <p:spPr>
          <a:xfrm>
            <a:off x="10863710" y="950289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Validation Performance</a:t>
            </a:r>
            <a:endParaRPr lang="en-IN" i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DBB947-4B75-0886-9CF4-CABC80CC3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79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7CFDDD-16CA-AAFB-0D54-7A73320C5375}"/>
              </a:ext>
            </a:extLst>
          </p:cNvPr>
          <p:cNvSpPr txBox="1"/>
          <p:nvPr/>
        </p:nvSpPr>
        <p:spPr>
          <a:xfrm>
            <a:off x="504033" y="1491097"/>
            <a:ext cx="1606605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solidFill>
                  <a:srgbClr val="282824"/>
                </a:solidFill>
                <a:ea typeface="+mn-lt"/>
                <a:cs typeface="+mn-lt"/>
              </a:rPr>
              <a:t>Comparative Analysis: CNN-only vs. Hybrid Model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9275D-DB5E-8859-84A0-8E6726135431}"/>
              </a:ext>
            </a:extLst>
          </p:cNvPr>
          <p:cNvSpPr txBox="1"/>
          <p:nvPr/>
        </p:nvSpPr>
        <p:spPr>
          <a:xfrm>
            <a:off x="695068" y="2957189"/>
            <a:ext cx="125112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  </a:t>
            </a:r>
            <a:r>
              <a:rPr lang="en-US" dirty="0">
                <a:ea typeface="+mn-lt"/>
                <a:cs typeface="+mn-lt"/>
              </a:rPr>
              <a:t> The CNN-only model demonstrated higher error metrics (RMSE</a:t>
            </a:r>
            <a:r>
              <a:rPr lang="en-US" sz="1800" baseline="0" dirty="0">
                <a:ea typeface="+mn-lt"/>
                <a:cs typeface="+mn-lt"/>
              </a:rPr>
              <a:t>: </a:t>
            </a:r>
            <a:r>
              <a:rPr lang="en-US" dirty="0">
                <a:ea typeface="+mn-lt"/>
                <a:cs typeface="+mn-lt"/>
              </a:rPr>
              <a:t>0.6102, MAE: 0.4989) compared to the Hybrid model.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97B37D-7427-9E2A-012F-870A06EA6EC6}"/>
              </a:ext>
            </a:extLst>
          </p:cNvPr>
          <p:cNvSpPr txBox="1"/>
          <p:nvPr/>
        </p:nvSpPr>
        <p:spPr>
          <a:xfrm>
            <a:off x="695068" y="3938637"/>
            <a:ext cx="1189337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  The hybrid approach provides several key advantages, including improved separation between risk classes and a better alignment with the physiological characteristics of neuropathy. Furthermore, this method results in enhanced model interpretability and more reliable, clinically meaningful predictions</a:t>
            </a:r>
          </a:p>
          <a:p>
            <a:pPr marL="285750" indent="-285750">
              <a:buFont typeface="Arial,Sans-Serif"/>
              <a:buChar char="•"/>
            </a:pPr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2D2F92-E3CA-7054-1B9F-311F10AC3BA8}"/>
              </a:ext>
            </a:extLst>
          </p:cNvPr>
          <p:cNvSpPr txBox="1"/>
          <p:nvPr/>
        </p:nvSpPr>
        <p:spPr>
          <a:xfrm>
            <a:off x="695068" y="5420499"/>
            <a:ext cx="9144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1800" baseline="0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Handcrafted thermal features are essential for precise neuropathy risk estimation</a:t>
            </a:r>
            <a:endParaRPr lang="en-US" sz="1800" dirty="0">
              <a:latin typeface="Trebuchet MS"/>
              <a:ea typeface="Arial"/>
              <a:cs typeface="Arial"/>
            </a:endParaRPr>
          </a:p>
          <a:p>
            <a:pPr marL="285750" lvl="0" indent="-285750" algn="ctr" rtl="0">
              <a:buFont typeface="Arial,Sans-Serif"/>
              <a:buChar char="•"/>
            </a:pPr>
            <a:endParaRPr lang="en-US" dirty="0">
              <a:latin typeface="Arial"/>
              <a:ea typeface="Arial"/>
              <a:cs typeface="Arial"/>
            </a:endParaRPr>
          </a:p>
          <a:p>
            <a:pPr algn="ctr"/>
            <a:endParaRPr lang="en-US" dirty="0"/>
          </a:p>
        </p:txBody>
      </p:sp>
      <p:pic>
        <p:nvPicPr>
          <p:cNvPr id="15" name="Picture 14" descr="A logo of a science and technology university&#10;&#10;AI-generated content may be incorrect.">
            <a:extLst>
              <a:ext uri="{FF2B5EF4-FFF2-40B4-BE49-F238E27FC236}">
                <a16:creationId xmlns:a16="http://schemas.microsoft.com/office/drawing/2014/main" id="{F33B0C08-A009-C951-D8AD-2DEFF4B41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815211-8EE4-1C45-A928-5031E0552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509084"/>
              </p:ext>
            </p:extLst>
          </p:nvPr>
        </p:nvGraphicFramePr>
        <p:xfrm>
          <a:off x="695068" y="6663869"/>
          <a:ext cx="1339596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320">
                  <a:extLst>
                    <a:ext uri="{9D8B030D-6E8A-4147-A177-3AD203B41FA5}">
                      <a16:colId xmlns:a16="http://schemas.microsoft.com/office/drawing/2014/main" val="3657665895"/>
                    </a:ext>
                  </a:extLst>
                </a:gridCol>
                <a:gridCol w="4465320">
                  <a:extLst>
                    <a:ext uri="{9D8B030D-6E8A-4147-A177-3AD203B41FA5}">
                      <a16:colId xmlns:a16="http://schemas.microsoft.com/office/drawing/2014/main" val="48739182"/>
                    </a:ext>
                  </a:extLst>
                </a:gridCol>
                <a:gridCol w="4465320">
                  <a:extLst>
                    <a:ext uri="{9D8B030D-6E8A-4147-A177-3AD203B41FA5}">
                      <a16:colId xmlns:a16="http://schemas.microsoft.com/office/drawing/2014/main" val="2595272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latin typeface="Times New Roman"/>
                          <a:ea typeface="Calibri"/>
                          <a:cs typeface="Times New Roman"/>
                        </a:rPr>
                        <a:t>Hybrid features model</a:t>
                      </a:r>
                      <a:endParaRPr lang="en-US" sz="1800" i="1" dirty="0"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latin typeface="Times New Roman"/>
                          <a:ea typeface="+mn-lt"/>
                          <a:cs typeface="Times New Roman"/>
                        </a:rPr>
                        <a:t>CNN-features only model</a:t>
                      </a:r>
                      <a:endParaRPr lang="en-US" sz="1800" i="1" dirty="0">
                        <a:latin typeface="Times New Roman"/>
                        <a:cs typeface="Times New Roman"/>
                      </a:endParaRPr>
                    </a:p>
                    <a:p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Root Mean Square Error (RMS)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0.473100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0.610200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984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Mean Square Error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0.357319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0.498862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48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Ordinal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0.995102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0.99162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70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061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037DBB-2346-E123-93ED-45DAB2A91DAA}"/>
              </a:ext>
            </a:extLst>
          </p:cNvPr>
          <p:cNvSpPr txBox="1"/>
          <p:nvPr/>
        </p:nvSpPr>
        <p:spPr>
          <a:xfrm>
            <a:off x="504033" y="1491097"/>
            <a:ext cx="1606605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solidFill>
                  <a:srgbClr val="282824"/>
                </a:solidFill>
                <a:ea typeface="+mn-lt"/>
                <a:cs typeface="+mn-lt"/>
              </a:rPr>
              <a:t>Desktop Application for Real-time Prediction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4861D-7252-FA0D-50CA-71E89CAF3230}"/>
              </a:ext>
            </a:extLst>
          </p:cNvPr>
          <p:cNvSpPr txBox="1"/>
          <p:nvPr/>
        </p:nvSpPr>
        <p:spPr>
          <a:xfrm>
            <a:off x="694921" y="2914807"/>
            <a:ext cx="1268230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Python-based User Interface </a:t>
            </a:r>
            <a:endParaRPr lang="en-US" b="1"/>
          </a:p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B280A-D9A1-F22E-72E1-20FCABB9E5B0}"/>
              </a:ext>
            </a:extLst>
          </p:cNvPr>
          <p:cNvSpPr txBox="1"/>
          <p:nvPr/>
        </p:nvSpPr>
        <p:spPr>
          <a:xfrm>
            <a:off x="695068" y="3722473"/>
            <a:ext cx="122640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Framework</a:t>
            </a:r>
            <a:r>
              <a:rPr lang="en-US">
                <a:ea typeface="+mn-lt"/>
                <a:cs typeface="+mn-lt"/>
              </a:rPr>
              <a:t>: Developed using the </a:t>
            </a:r>
            <a:r>
              <a:rPr lang="en-US" b="1" err="1">
                <a:ea typeface="+mn-lt"/>
                <a:cs typeface="+mn-lt"/>
              </a:rPr>
              <a:t>Tkinter</a:t>
            </a:r>
            <a:r>
              <a:rPr lang="en-US">
                <a:ea typeface="+mn-lt"/>
                <a:cs typeface="+mn-lt"/>
              </a:rPr>
              <a:t> library for a lightweight and efficient GUI.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901A1-C3EC-211E-814C-3815E4C2F374}"/>
              </a:ext>
            </a:extLst>
          </p:cNvPr>
          <p:cNvSpPr txBox="1"/>
          <p:nvPr/>
        </p:nvSpPr>
        <p:spPr>
          <a:xfrm>
            <a:off x="695068" y="4371203"/>
            <a:ext cx="1251121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 Core Components</a:t>
            </a:r>
            <a:r>
              <a:rPr lang="en-US">
                <a:ea typeface="+mn-lt"/>
                <a:cs typeface="+mn-lt"/>
              </a:rPr>
              <a:t>:</a:t>
            </a:r>
          </a:p>
          <a:p>
            <a:pPr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        Image Display Panel</a:t>
            </a:r>
            <a:r>
              <a:rPr lang="en-US">
                <a:ea typeface="+mn-lt"/>
                <a:cs typeface="+mn-lt"/>
              </a:rPr>
              <a:t>: Shows the uploaded thermal foot image.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        Control Buttons</a:t>
            </a:r>
            <a:r>
              <a:rPr lang="en-US" sz="1800" baseline="0">
                <a:ea typeface="+mn-lt"/>
                <a:cs typeface="+mn-lt"/>
              </a:rPr>
              <a:t>: </a:t>
            </a:r>
            <a:r>
              <a:rPr lang="en-US">
                <a:ea typeface="+mn-lt"/>
                <a:cs typeface="+mn-lt"/>
              </a:rPr>
              <a:t>For image uploading and triggering risk prediction.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        Result Area</a:t>
            </a:r>
            <a:r>
              <a:rPr lang="en-US">
                <a:ea typeface="+mn-lt"/>
                <a:cs typeface="+mn-lt"/>
              </a:rPr>
              <a:t>: Displays the predicted risk level (Low, Moderate, High) and numerical score.</a:t>
            </a:r>
          </a:p>
          <a:p>
            <a:pPr>
              <a:buFont typeface="Arial"/>
              <a:buChar char="•"/>
            </a:pPr>
            <a:endParaRPr lang="en-US"/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505172-DD2A-6158-AFA0-D84B1A96C71E}"/>
              </a:ext>
            </a:extLst>
          </p:cNvPr>
          <p:cNvSpPr txBox="1"/>
          <p:nvPr/>
        </p:nvSpPr>
        <p:spPr>
          <a:xfrm>
            <a:off x="695068" y="6132040"/>
            <a:ext cx="9144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b="1">
                <a:ea typeface="+mn-lt"/>
                <a:cs typeface="+mn-lt"/>
              </a:rPr>
              <a:t>Runtime Models</a:t>
            </a:r>
            <a:r>
              <a:rPr lang="en-US" sz="1800" baseline="0">
                <a:ea typeface="+mn-lt"/>
                <a:cs typeface="+mn-lt"/>
              </a:rPr>
              <a:t>: </a:t>
            </a:r>
            <a:r>
              <a:rPr lang="en-US">
                <a:ea typeface="+mn-lt"/>
                <a:cs typeface="+mn-lt"/>
              </a:rPr>
              <a:t>Loads the MobileNetV2 feature extractor, </a:t>
            </a:r>
            <a:r>
              <a:rPr lang="en-US" err="1">
                <a:ea typeface="+mn-lt"/>
                <a:cs typeface="+mn-lt"/>
              </a:rPr>
              <a:t>StandardScaler</a:t>
            </a:r>
            <a:r>
              <a:rPr lang="en-US">
                <a:ea typeface="+mn-lt"/>
                <a:cs typeface="+mn-lt"/>
              </a:rPr>
              <a:t>, and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 regressor simultaneously.</a:t>
            </a:r>
            <a:endParaRPr lang="en-US" sz="1800">
              <a:latin typeface="Trebuchet MS"/>
              <a:ea typeface="Arial"/>
              <a:cs typeface="Arial"/>
            </a:endParaRPr>
          </a:p>
          <a:p>
            <a:pPr marL="285750" lvl="0" indent="-285750" algn="ctr" rtl="0">
              <a:buFont typeface="Arial,Sans-Serif"/>
              <a:buChar char="•"/>
            </a:pPr>
            <a:endParaRPr lang="en-US">
              <a:latin typeface="Arial"/>
              <a:ea typeface="Arial"/>
              <a:cs typeface="Arial"/>
            </a:endParaRPr>
          </a:p>
          <a:p>
            <a:pPr algn="ctr"/>
            <a:endParaRPr lang="en-US"/>
          </a:p>
        </p:txBody>
      </p:sp>
      <p:pic>
        <p:nvPicPr>
          <p:cNvPr id="15" name="Picture 14" descr="A logo of a science and technology university&#10;&#10;AI-generated content may be incorrect.">
            <a:extLst>
              <a:ext uri="{FF2B5EF4-FFF2-40B4-BE49-F238E27FC236}">
                <a16:creationId xmlns:a16="http://schemas.microsoft.com/office/drawing/2014/main" id="{9E8D45CE-FF46-0D44-3A6B-A3E5F3EAB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53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40776B-3A94-8700-823D-71B4F0202CDF}"/>
              </a:ext>
            </a:extLst>
          </p:cNvPr>
          <p:cNvSpPr txBox="1"/>
          <p:nvPr/>
        </p:nvSpPr>
        <p:spPr>
          <a:xfrm>
            <a:off x="504033" y="1491097"/>
            <a:ext cx="1606605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solidFill>
                  <a:srgbClr val="282824"/>
                </a:solidFill>
                <a:ea typeface="+mn-lt"/>
                <a:cs typeface="+mn-lt"/>
              </a:rPr>
              <a:t>Application Workflow and Risk Mapping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DA42F-3FB2-ACA1-1E62-9198D6DBB7CE}"/>
              </a:ext>
            </a:extLst>
          </p:cNvPr>
          <p:cNvSpPr txBox="1"/>
          <p:nvPr/>
        </p:nvSpPr>
        <p:spPr>
          <a:xfrm>
            <a:off x="694921" y="2914807"/>
            <a:ext cx="1268230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System Process</a:t>
            </a:r>
            <a:endParaRPr lang="en-US" b="1"/>
          </a:p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4F70A-A0EC-8EF9-C9EB-DC11DE911EC4}"/>
              </a:ext>
            </a:extLst>
          </p:cNvPr>
          <p:cNvSpPr txBox="1"/>
          <p:nvPr/>
        </p:nvSpPr>
        <p:spPr>
          <a:xfrm>
            <a:off x="695068" y="3722473"/>
            <a:ext cx="122640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Image Upload</a:t>
            </a:r>
            <a:r>
              <a:rPr lang="en-US">
                <a:ea typeface="+mn-lt"/>
                <a:cs typeface="+mn-lt"/>
              </a:rPr>
              <a:t>: Supports PNG/JPG thermal image formats.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7F764D-338D-1F1A-82CB-FE014343210F}"/>
              </a:ext>
            </a:extLst>
          </p:cNvPr>
          <p:cNvSpPr txBox="1"/>
          <p:nvPr/>
        </p:nvSpPr>
        <p:spPr>
          <a:xfrm>
            <a:off x="695068" y="4247635"/>
            <a:ext cx="125112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  Hybrid Extraction</a:t>
            </a:r>
            <a:r>
              <a:rPr lang="en-US">
                <a:ea typeface="+mn-lt"/>
                <a:cs typeface="+mn-lt"/>
              </a:rPr>
              <a:t>: Generates 1292 total features (1280 CNN + 12 Thermal).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3F8DB-1896-D6C4-40BF-4E5DC6221369}"/>
              </a:ext>
            </a:extLst>
          </p:cNvPr>
          <p:cNvSpPr txBox="1"/>
          <p:nvPr/>
        </p:nvSpPr>
        <p:spPr>
          <a:xfrm>
            <a:off x="695068" y="5622324"/>
            <a:ext cx="9144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b="1">
                <a:ea typeface="+mn-lt"/>
                <a:cs typeface="+mn-lt"/>
              </a:rPr>
              <a:t>Risk Prediction</a:t>
            </a:r>
            <a:r>
              <a:rPr lang="en-US" sz="1800" baseline="0">
                <a:ea typeface="+mn-lt"/>
                <a:cs typeface="+mn-lt"/>
              </a:rPr>
              <a:t>: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 regressor computes a continuous risk score</a:t>
            </a:r>
            <a:endParaRPr lang="en-US"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842059-5E8C-F13C-E431-53F1E0D5884B}"/>
              </a:ext>
            </a:extLst>
          </p:cNvPr>
          <p:cNvSpPr txBox="1"/>
          <p:nvPr/>
        </p:nvSpPr>
        <p:spPr>
          <a:xfrm>
            <a:off x="695068" y="4819136"/>
            <a:ext cx="9144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Arial,Sans-Serif"/>
              <a:buChar char="•"/>
            </a:pPr>
            <a:r>
              <a:rPr lang="en-US" b="1">
                <a:ea typeface="+mn-lt"/>
                <a:cs typeface="+mn-lt"/>
              </a:rPr>
              <a:t>Feature Scaling</a:t>
            </a:r>
            <a:r>
              <a:rPr lang="en-US" sz="1800" baseline="0">
                <a:ea typeface="+mn-lt"/>
                <a:cs typeface="+mn-lt"/>
              </a:rPr>
              <a:t>: </a:t>
            </a:r>
            <a:r>
              <a:rPr lang="en-US">
                <a:ea typeface="+mn-lt"/>
                <a:cs typeface="+mn-lt"/>
              </a:rPr>
              <a:t>Normalizes the combined vector using a pre-trained </a:t>
            </a:r>
            <a:r>
              <a:rPr lang="en-US" b="1" err="1">
                <a:ea typeface="+mn-lt"/>
                <a:cs typeface="+mn-lt"/>
              </a:rPr>
              <a:t>StandardScaler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1BB6A-0375-D4C0-B9EF-03C98E7400C9}"/>
              </a:ext>
            </a:extLst>
          </p:cNvPr>
          <p:cNvSpPr txBox="1"/>
          <p:nvPr/>
        </p:nvSpPr>
        <p:spPr>
          <a:xfrm>
            <a:off x="695068" y="6193824"/>
            <a:ext cx="9144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  Output Mapping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   Low Risk</a:t>
            </a:r>
            <a:r>
              <a:rPr lang="en-US">
                <a:ea typeface="+mn-lt"/>
                <a:cs typeface="+mn-lt"/>
              </a:rPr>
              <a:t>: Score &lt;= 0.5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   Medium Risk</a:t>
            </a:r>
            <a:r>
              <a:rPr lang="en-US">
                <a:ea typeface="+mn-lt"/>
                <a:cs typeface="+mn-lt"/>
              </a:rPr>
              <a:t>: 0.5 - 1.5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   High </a:t>
            </a:r>
            <a:r>
              <a:rPr lang="en-US" sz="1800" b="1" baseline="0">
                <a:ea typeface="+mn-lt"/>
                <a:cs typeface="+mn-lt"/>
              </a:rPr>
              <a:t>Risk</a:t>
            </a:r>
            <a:r>
              <a:rPr lang="en-US" sz="1800" baseline="0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Score &gt; 1.5</a:t>
            </a:r>
            <a:endParaRPr lang="en-US"/>
          </a:p>
          <a:p>
            <a:pPr marL="285750" indent="-285750">
              <a:buFont typeface="Arial,Sans-Serif"/>
              <a:buChar char="•"/>
            </a:pPr>
            <a:endParaRPr lang="en-US">
              <a:cs typeface="Arial"/>
            </a:endParaRPr>
          </a:p>
        </p:txBody>
      </p:sp>
      <p:pic>
        <p:nvPicPr>
          <p:cNvPr id="15" name="Picture 14" descr="A logo of a science and technology university&#10;&#10;AI-generated content may be incorrect.">
            <a:extLst>
              <a:ext uri="{FF2B5EF4-FFF2-40B4-BE49-F238E27FC236}">
                <a16:creationId xmlns:a16="http://schemas.microsoft.com/office/drawing/2014/main" id="{9A436C49-618D-B103-848E-ABC640486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7548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64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</TotalTime>
  <Words>958</Words>
  <Application>Microsoft Office PowerPoint</Application>
  <PresentationFormat>Custom</PresentationFormat>
  <Paragraphs>139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Lato Bold</vt:lpstr>
      <vt:lpstr>Arial</vt:lpstr>
      <vt:lpstr>Arial,Sans-Serif</vt:lpstr>
      <vt:lpstr>Trebuchet MS</vt:lpstr>
      <vt:lpstr>Times New Roman</vt:lpstr>
      <vt:lpstr>Wingdings 3</vt:lpstr>
      <vt:lpstr>Lato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 T</dc:creator>
  <cp:lastModifiedBy>K Frey</cp:lastModifiedBy>
  <cp:revision>16</cp:revision>
  <dcterms:created xsi:type="dcterms:W3CDTF">2006-08-16T00:00:00Z</dcterms:created>
  <dcterms:modified xsi:type="dcterms:W3CDTF">2026-04-28T12:41:30Z</dcterms:modified>
  <dc:identifier>DAG75FFc_xU</dc:identifier>
</cp:coreProperties>
</file>