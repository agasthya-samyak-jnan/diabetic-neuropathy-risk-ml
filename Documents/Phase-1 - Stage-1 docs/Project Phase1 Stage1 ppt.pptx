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6" r:id="rId6"/>
    <p:sldId id="267" r:id="rId7"/>
    <p:sldId id="259" r:id="rId8"/>
    <p:sldId id="261" r:id="rId9"/>
    <p:sldId id="262" r:id="rId10"/>
    <p:sldId id="263" r:id="rId11"/>
    <p:sldId id="265" r:id="rId12"/>
  </p:sldIdLst>
  <p:sldSz cx="14630400" cy="8229600"/>
  <p:notesSz cx="8229600" cy="14630400"/>
  <p:embeddedFontLst>
    <p:embeddedFont>
      <p:font typeface="Gelasio" panose="020B0604020202020204" charset="0"/>
      <p:regular r:id="rId14"/>
    </p:embeddedFont>
    <p:embeddedFont>
      <p:font typeface="Gelasio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irina ningombam" initials="an" lastIdx="1" clrIdx="0">
    <p:extLst>
      <p:ext uri="{19B8F6BF-5375-455C-9EA6-DF929625EA0E}">
        <p15:presenceInfo xmlns:p15="http://schemas.microsoft.com/office/powerpoint/2012/main" userId="f5a011283fb6c6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 Week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894-4D59-AA9B-90BF7BAD4049}"/>
              </c:ext>
            </c:extLst>
          </c:dPt>
          <c:dPt>
            <c:idx val="2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894-4D59-AA9B-90BF7BAD4049}"/>
              </c:ext>
            </c:extLst>
          </c:dPt>
          <c:dPt>
            <c:idx val="3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894-4D59-AA9B-90BF7BAD4049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894-4D59-AA9B-90BF7BAD4049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894-4D59-AA9B-90BF7BAD4049}"/>
              </c:ext>
            </c:extLst>
          </c:dPt>
          <c:dPt>
            <c:idx val="6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894-4D59-AA9B-90BF7BAD4049}"/>
              </c:ext>
            </c:extLst>
          </c:dPt>
          <c:dPt>
            <c:idx val="7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894-4D59-AA9B-90BF7BAD4049}"/>
              </c:ext>
            </c:extLst>
          </c:dPt>
          <c:cat>
            <c:strRef>
              <c:f>Sheet1!$A$2:$A$9</c:f>
              <c:strCache>
                <c:ptCount val="8"/>
                <c:pt idx="0">
                  <c:v>Literature Review</c:v>
                </c:pt>
                <c:pt idx="1">
                  <c:v>Dataset Preparation</c:v>
                </c:pt>
                <c:pt idx="2">
                  <c:v>Preprocessing</c:v>
                </c:pt>
                <c:pt idx="3">
                  <c:v>Deployment</c:v>
                </c:pt>
                <c:pt idx="4">
                  <c:v>Fine Tuning</c:v>
                </c:pt>
                <c:pt idx="5">
                  <c:v>Model Testing and Evaluation</c:v>
                </c:pt>
                <c:pt idx="6">
                  <c:v>Explainability</c:v>
                </c:pt>
                <c:pt idx="7">
                  <c:v>Documentation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94-4D59-AA9B-90BF7BAD40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Literature Review</c:v>
                </c:pt>
                <c:pt idx="1">
                  <c:v>Dataset Preparation</c:v>
                </c:pt>
                <c:pt idx="2">
                  <c:v>Preprocessing</c:v>
                </c:pt>
                <c:pt idx="3">
                  <c:v>Deployment</c:v>
                </c:pt>
                <c:pt idx="4">
                  <c:v>Fine Tuning</c:v>
                </c:pt>
                <c:pt idx="5">
                  <c:v>Model Testing and Evaluation</c:v>
                </c:pt>
                <c:pt idx="6">
                  <c:v>Explainability</c:v>
                </c:pt>
                <c:pt idx="7">
                  <c:v>Documentation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94-4D59-AA9B-90BF7BAD40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922837168"/>
        <c:axId val="922837648"/>
      </c:barChart>
      <c:catAx>
        <c:axId val="922837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2837648"/>
        <c:crosses val="autoZero"/>
        <c:auto val="1"/>
        <c:lblAlgn val="ctr"/>
        <c:lblOffset val="100"/>
        <c:noMultiLvlLbl val="0"/>
      </c:catAx>
      <c:valAx>
        <c:axId val="922837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2837168"/>
        <c:crosses val="autoZero"/>
        <c:crossBetween val="between"/>
      </c:valAx>
      <c:spPr>
        <a:noFill/>
        <a:ln>
          <a:solidFill>
            <a:schemeClr val="accent1">
              <a:alpha val="95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14C769-EBA4-4F24-B270-EAB8AE24198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6C4757E1-5FD7-435E-BEDC-C895D5818066}">
      <dgm:prSet phldrT="[Text]" phldr="0" custT="1"/>
      <dgm:spPr/>
      <dgm:t>
        <a:bodyPr/>
        <a:lstStyle/>
        <a:p>
          <a:r>
            <a:rPr lang="en-US" sz="1600" dirty="0"/>
            <a:t>Data Collection and Preprocessing</a:t>
          </a:r>
          <a:endParaRPr lang="en-IN" sz="1600" dirty="0"/>
        </a:p>
      </dgm:t>
    </dgm:pt>
    <dgm:pt modelId="{F6F5483D-4883-4721-9E0F-C8844A139BAC}" type="parTrans" cxnId="{4BEDB5BB-85A8-4761-96F2-9CA2842F464C}">
      <dgm:prSet/>
      <dgm:spPr/>
      <dgm:t>
        <a:bodyPr/>
        <a:lstStyle/>
        <a:p>
          <a:endParaRPr lang="en-IN"/>
        </a:p>
      </dgm:t>
    </dgm:pt>
    <dgm:pt modelId="{106F1B28-0E31-4003-BEEC-76263CB0B488}" type="sibTrans" cxnId="{4BEDB5BB-85A8-4761-96F2-9CA2842F464C}">
      <dgm:prSet/>
      <dgm:spPr/>
      <dgm:t>
        <a:bodyPr/>
        <a:lstStyle/>
        <a:p>
          <a:endParaRPr lang="en-IN"/>
        </a:p>
      </dgm:t>
    </dgm:pt>
    <dgm:pt modelId="{E964BBA4-7B15-4A80-99F0-7194DA92508B}">
      <dgm:prSet phldrT="[Text]" phldr="0"/>
      <dgm:spPr/>
      <dgm:t>
        <a:bodyPr/>
        <a:lstStyle/>
        <a:p>
          <a:r>
            <a:rPr lang="en-US" dirty="0"/>
            <a:t>Preprocessing</a:t>
          </a:r>
          <a:endParaRPr lang="en-IN" dirty="0"/>
        </a:p>
      </dgm:t>
    </dgm:pt>
    <dgm:pt modelId="{2F1ED693-2815-4D71-9FA4-4EC648253315}" type="parTrans" cxnId="{7406E6A1-7229-4CF8-8BB4-11B446416835}">
      <dgm:prSet/>
      <dgm:spPr/>
      <dgm:t>
        <a:bodyPr/>
        <a:lstStyle/>
        <a:p>
          <a:endParaRPr lang="en-IN"/>
        </a:p>
      </dgm:t>
    </dgm:pt>
    <dgm:pt modelId="{7796C3ED-3FE2-491F-BC63-32D1814E4AC9}" type="sibTrans" cxnId="{7406E6A1-7229-4CF8-8BB4-11B446416835}">
      <dgm:prSet/>
      <dgm:spPr/>
      <dgm:t>
        <a:bodyPr/>
        <a:lstStyle/>
        <a:p>
          <a:endParaRPr lang="en-IN"/>
        </a:p>
      </dgm:t>
    </dgm:pt>
    <dgm:pt modelId="{EEAFEAF5-B308-4488-9DC2-EF0F08C94A4A}">
      <dgm:prSet phldrT="[Text]" phldr="0"/>
      <dgm:spPr/>
      <dgm:t>
        <a:bodyPr/>
        <a:lstStyle/>
        <a:p>
          <a:r>
            <a:rPr lang="en-US" dirty="0"/>
            <a:t>Model Deployment</a:t>
          </a:r>
          <a:endParaRPr lang="en-IN" dirty="0"/>
        </a:p>
      </dgm:t>
    </dgm:pt>
    <dgm:pt modelId="{66FF3376-6768-4091-BA86-732BEAF21743}" type="parTrans" cxnId="{1ED629CC-ED2D-4E8C-8A72-4FAB5378EC52}">
      <dgm:prSet/>
      <dgm:spPr/>
      <dgm:t>
        <a:bodyPr/>
        <a:lstStyle/>
        <a:p>
          <a:endParaRPr lang="en-IN"/>
        </a:p>
      </dgm:t>
    </dgm:pt>
    <dgm:pt modelId="{74BF957F-7532-45DB-8700-4268BFBFE0B5}" type="sibTrans" cxnId="{1ED629CC-ED2D-4E8C-8A72-4FAB5378EC52}">
      <dgm:prSet/>
      <dgm:spPr/>
      <dgm:t>
        <a:bodyPr/>
        <a:lstStyle/>
        <a:p>
          <a:endParaRPr lang="en-IN"/>
        </a:p>
      </dgm:t>
    </dgm:pt>
    <dgm:pt modelId="{90D544A2-F380-43D8-9A96-02AE0C53E50D}">
      <dgm:prSet/>
      <dgm:spPr/>
      <dgm:t>
        <a:bodyPr/>
        <a:lstStyle/>
        <a:p>
          <a:r>
            <a:rPr lang="en-US" dirty="0"/>
            <a:t>Evaluation</a:t>
          </a:r>
          <a:endParaRPr lang="en-IN" dirty="0"/>
        </a:p>
      </dgm:t>
    </dgm:pt>
    <dgm:pt modelId="{E24C7CF2-44DA-4874-B1C0-9BAB3C314747}" type="parTrans" cxnId="{05EEAC8F-D8C9-49DF-A089-4B1835E47A29}">
      <dgm:prSet/>
      <dgm:spPr/>
      <dgm:t>
        <a:bodyPr/>
        <a:lstStyle/>
        <a:p>
          <a:endParaRPr lang="en-IN"/>
        </a:p>
      </dgm:t>
    </dgm:pt>
    <dgm:pt modelId="{BA278E6D-DEA3-49AE-B21E-FCA55BA3C65C}" type="sibTrans" cxnId="{05EEAC8F-D8C9-49DF-A089-4B1835E47A29}">
      <dgm:prSet/>
      <dgm:spPr/>
      <dgm:t>
        <a:bodyPr/>
        <a:lstStyle/>
        <a:p>
          <a:endParaRPr lang="en-IN"/>
        </a:p>
      </dgm:t>
    </dgm:pt>
    <dgm:pt modelId="{16861042-E810-427C-A18B-F7E9A8CA9912}" type="pres">
      <dgm:prSet presAssocID="{F814C769-EBA4-4F24-B270-EAB8AE241983}" presName="rootnode" presStyleCnt="0">
        <dgm:presLayoutVars>
          <dgm:chMax/>
          <dgm:chPref/>
          <dgm:dir/>
          <dgm:animLvl val="lvl"/>
        </dgm:presLayoutVars>
      </dgm:prSet>
      <dgm:spPr/>
    </dgm:pt>
    <dgm:pt modelId="{BEFDCCBA-8B2C-4FC3-ADFE-6EBF333DAC98}" type="pres">
      <dgm:prSet presAssocID="{6C4757E1-5FD7-435E-BEDC-C895D5818066}" presName="composite" presStyleCnt="0"/>
      <dgm:spPr/>
    </dgm:pt>
    <dgm:pt modelId="{3A5B342A-D8C2-4D6A-A723-958A400E7F96}" type="pres">
      <dgm:prSet presAssocID="{6C4757E1-5FD7-435E-BEDC-C895D5818066}" presName="bentUpArrow1" presStyleLbl="alignImgPlace1" presStyleIdx="0" presStyleCnt="3"/>
      <dgm:spPr/>
    </dgm:pt>
    <dgm:pt modelId="{37CCB8D9-D1FA-443C-8EB2-3531CB74F716}" type="pres">
      <dgm:prSet presAssocID="{6C4757E1-5FD7-435E-BEDC-C895D5818066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B8439C83-E643-47BB-B6D8-EC1FF42A79C2}" type="pres">
      <dgm:prSet presAssocID="{6C4757E1-5FD7-435E-BEDC-C895D5818066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146427B-51D0-441D-972C-70E327A8AEED}" type="pres">
      <dgm:prSet presAssocID="{106F1B28-0E31-4003-BEEC-76263CB0B488}" presName="sibTrans" presStyleCnt="0"/>
      <dgm:spPr/>
    </dgm:pt>
    <dgm:pt modelId="{F4C170BC-39C0-44D5-AC38-A6EDFB60C643}" type="pres">
      <dgm:prSet presAssocID="{E964BBA4-7B15-4A80-99F0-7194DA92508B}" presName="composite" presStyleCnt="0"/>
      <dgm:spPr/>
    </dgm:pt>
    <dgm:pt modelId="{B508BA2C-87F1-42A4-A987-6BC55970CB27}" type="pres">
      <dgm:prSet presAssocID="{E964BBA4-7B15-4A80-99F0-7194DA92508B}" presName="bentUpArrow1" presStyleLbl="alignImgPlace1" presStyleIdx="1" presStyleCnt="3"/>
      <dgm:spPr/>
    </dgm:pt>
    <dgm:pt modelId="{DE6F5123-A15E-4443-8E95-5B6E8C93D136}" type="pres">
      <dgm:prSet presAssocID="{E964BBA4-7B15-4A80-99F0-7194DA92508B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75420F7D-5F85-4437-B8FF-D8C7A4759E10}" type="pres">
      <dgm:prSet presAssocID="{E964BBA4-7B15-4A80-99F0-7194DA92508B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60EA8101-2D4F-4F7A-AF18-68AB7DB1ACB4}" type="pres">
      <dgm:prSet presAssocID="{7796C3ED-3FE2-491F-BC63-32D1814E4AC9}" presName="sibTrans" presStyleCnt="0"/>
      <dgm:spPr/>
    </dgm:pt>
    <dgm:pt modelId="{A94A50F3-72AF-45C9-828E-267A7A28EC74}" type="pres">
      <dgm:prSet presAssocID="{EEAFEAF5-B308-4488-9DC2-EF0F08C94A4A}" presName="composite" presStyleCnt="0"/>
      <dgm:spPr/>
    </dgm:pt>
    <dgm:pt modelId="{2C1BA3C6-83AF-49E0-8B7F-0CBD9268D7AD}" type="pres">
      <dgm:prSet presAssocID="{EEAFEAF5-B308-4488-9DC2-EF0F08C94A4A}" presName="bentUpArrow1" presStyleLbl="alignImgPlace1" presStyleIdx="2" presStyleCnt="3"/>
      <dgm:spPr/>
    </dgm:pt>
    <dgm:pt modelId="{DD5E972D-50E0-4B3C-826E-608C1238DF3E}" type="pres">
      <dgm:prSet presAssocID="{EEAFEAF5-B308-4488-9DC2-EF0F08C94A4A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9FB11A6A-025D-4FDD-A973-28F1605592CF}" type="pres">
      <dgm:prSet presAssocID="{EEAFEAF5-B308-4488-9DC2-EF0F08C94A4A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4B7CDCE2-44E1-4F6A-BC81-6CCF6CADE797}" type="pres">
      <dgm:prSet presAssocID="{74BF957F-7532-45DB-8700-4268BFBFE0B5}" presName="sibTrans" presStyleCnt="0"/>
      <dgm:spPr/>
    </dgm:pt>
    <dgm:pt modelId="{49721555-5414-4C73-A20C-2E2A7B4952E3}" type="pres">
      <dgm:prSet presAssocID="{90D544A2-F380-43D8-9A96-02AE0C53E50D}" presName="composite" presStyleCnt="0"/>
      <dgm:spPr/>
    </dgm:pt>
    <dgm:pt modelId="{67E8AC6A-0F7E-45ED-A8C2-E9826021ACB1}" type="pres">
      <dgm:prSet presAssocID="{90D544A2-F380-43D8-9A96-02AE0C53E50D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9FF7EF3A-E972-4359-9496-28DF1F1DE69F}" type="presOf" srcId="{90D544A2-F380-43D8-9A96-02AE0C53E50D}" destId="{67E8AC6A-0F7E-45ED-A8C2-E9826021ACB1}" srcOrd="0" destOrd="0" presId="urn:microsoft.com/office/officeart/2005/8/layout/StepDownProcess"/>
    <dgm:cxn modelId="{0BA8E384-DE02-44D0-841C-15499F6FECD7}" type="presOf" srcId="{F814C769-EBA4-4F24-B270-EAB8AE241983}" destId="{16861042-E810-427C-A18B-F7E9A8CA9912}" srcOrd="0" destOrd="0" presId="urn:microsoft.com/office/officeart/2005/8/layout/StepDownProcess"/>
    <dgm:cxn modelId="{05EEAC8F-D8C9-49DF-A089-4B1835E47A29}" srcId="{F814C769-EBA4-4F24-B270-EAB8AE241983}" destId="{90D544A2-F380-43D8-9A96-02AE0C53E50D}" srcOrd="3" destOrd="0" parTransId="{E24C7CF2-44DA-4874-B1C0-9BAB3C314747}" sibTransId="{BA278E6D-DEA3-49AE-B21E-FCA55BA3C65C}"/>
    <dgm:cxn modelId="{7406E6A1-7229-4CF8-8BB4-11B446416835}" srcId="{F814C769-EBA4-4F24-B270-EAB8AE241983}" destId="{E964BBA4-7B15-4A80-99F0-7194DA92508B}" srcOrd="1" destOrd="0" parTransId="{2F1ED693-2815-4D71-9FA4-4EC648253315}" sibTransId="{7796C3ED-3FE2-491F-BC63-32D1814E4AC9}"/>
    <dgm:cxn modelId="{4BEDB5BB-85A8-4761-96F2-9CA2842F464C}" srcId="{F814C769-EBA4-4F24-B270-EAB8AE241983}" destId="{6C4757E1-5FD7-435E-BEDC-C895D5818066}" srcOrd="0" destOrd="0" parTransId="{F6F5483D-4883-4721-9E0F-C8844A139BAC}" sibTransId="{106F1B28-0E31-4003-BEEC-76263CB0B488}"/>
    <dgm:cxn modelId="{1ED629CC-ED2D-4E8C-8A72-4FAB5378EC52}" srcId="{F814C769-EBA4-4F24-B270-EAB8AE241983}" destId="{EEAFEAF5-B308-4488-9DC2-EF0F08C94A4A}" srcOrd="2" destOrd="0" parTransId="{66FF3376-6768-4091-BA86-732BEAF21743}" sibTransId="{74BF957F-7532-45DB-8700-4268BFBFE0B5}"/>
    <dgm:cxn modelId="{64E415D2-426F-452D-9DBE-A7B823C48BBF}" type="presOf" srcId="{EEAFEAF5-B308-4488-9DC2-EF0F08C94A4A}" destId="{DD5E972D-50E0-4B3C-826E-608C1238DF3E}" srcOrd="0" destOrd="0" presId="urn:microsoft.com/office/officeart/2005/8/layout/StepDownProcess"/>
    <dgm:cxn modelId="{CB4E48ED-304C-46DE-9B35-89FF9EDA07E9}" type="presOf" srcId="{6C4757E1-5FD7-435E-BEDC-C895D5818066}" destId="{37CCB8D9-D1FA-443C-8EB2-3531CB74F716}" srcOrd="0" destOrd="0" presId="urn:microsoft.com/office/officeart/2005/8/layout/StepDownProcess"/>
    <dgm:cxn modelId="{7A2F39FA-1BCE-4B11-B288-A9EDB5E45F50}" type="presOf" srcId="{E964BBA4-7B15-4A80-99F0-7194DA92508B}" destId="{DE6F5123-A15E-4443-8E95-5B6E8C93D136}" srcOrd="0" destOrd="0" presId="urn:microsoft.com/office/officeart/2005/8/layout/StepDownProcess"/>
    <dgm:cxn modelId="{8089C876-36AD-4848-8594-5D4B0D1F1F89}" type="presParOf" srcId="{16861042-E810-427C-A18B-F7E9A8CA9912}" destId="{BEFDCCBA-8B2C-4FC3-ADFE-6EBF333DAC98}" srcOrd="0" destOrd="0" presId="urn:microsoft.com/office/officeart/2005/8/layout/StepDownProcess"/>
    <dgm:cxn modelId="{F1B5A723-2114-440E-B992-B165B548D7FF}" type="presParOf" srcId="{BEFDCCBA-8B2C-4FC3-ADFE-6EBF333DAC98}" destId="{3A5B342A-D8C2-4D6A-A723-958A400E7F96}" srcOrd="0" destOrd="0" presId="urn:microsoft.com/office/officeart/2005/8/layout/StepDownProcess"/>
    <dgm:cxn modelId="{6EB65105-4CB2-481D-B92A-F2D7479846DE}" type="presParOf" srcId="{BEFDCCBA-8B2C-4FC3-ADFE-6EBF333DAC98}" destId="{37CCB8D9-D1FA-443C-8EB2-3531CB74F716}" srcOrd="1" destOrd="0" presId="urn:microsoft.com/office/officeart/2005/8/layout/StepDownProcess"/>
    <dgm:cxn modelId="{6AF99EBE-BC9F-429D-AE3D-1AAC2098383F}" type="presParOf" srcId="{BEFDCCBA-8B2C-4FC3-ADFE-6EBF333DAC98}" destId="{B8439C83-E643-47BB-B6D8-EC1FF42A79C2}" srcOrd="2" destOrd="0" presId="urn:microsoft.com/office/officeart/2005/8/layout/StepDownProcess"/>
    <dgm:cxn modelId="{3BDB53F8-C1E0-40BA-891C-948A62F68508}" type="presParOf" srcId="{16861042-E810-427C-A18B-F7E9A8CA9912}" destId="{9146427B-51D0-441D-972C-70E327A8AEED}" srcOrd="1" destOrd="0" presId="urn:microsoft.com/office/officeart/2005/8/layout/StepDownProcess"/>
    <dgm:cxn modelId="{1A97AFF4-48F2-4783-AA88-CD8BFFBF8794}" type="presParOf" srcId="{16861042-E810-427C-A18B-F7E9A8CA9912}" destId="{F4C170BC-39C0-44D5-AC38-A6EDFB60C643}" srcOrd="2" destOrd="0" presId="urn:microsoft.com/office/officeart/2005/8/layout/StepDownProcess"/>
    <dgm:cxn modelId="{BE289774-3744-4B05-8B73-3DFFD41FFF15}" type="presParOf" srcId="{F4C170BC-39C0-44D5-AC38-A6EDFB60C643}" destId="{B508BA2C-87F1-42A4-A987-6BC55970CB27}" srcOrd="0" destOrd="0" presId="urn:microsoft.com/office/officeart/2005/8/layout/StepDownProcess"/>
    <dgm:cxn modelId="{5355703F-CC58-42F4-8C27-088E0C35F76E}" type="presParOf" srcId="{F4C170BC-39C0-44D5-AC38-A6EDFB60C643}" destId="{DE6F5123-A15E-4443-8E95-5B6E8C93D136}" srcOrd="1" destOrd="0" presId="urn:microsoft.com/office/officeart/2005/8/layout/StepDownProcess"/>
    <dgm:cxn modelId="{58C14652-C69D-4525-90D8-932787C21706}" type="presParOf" srcId="{F4C170BC-39C0-44D5-AC38-A6EDFB60C643}" destId="{75420F7D-5F85-4437-B8FF-D8C7A4759E10}" srcOrd="2" destOrd="0" presId="urn:microsoft.com/office/officeart/2005/8/layout/StepDownProcess"/>
    <dgm:cxn modelId="{8EDCC925-B043-4C97-A6B3-3EC29AEDDB53}" type="presParOf" srcId="{16861042-E810-427C-A18B-F7E9A8CA9912}" destId="{60EA8101-2D4F-4F7A-AF18-68AB7DB1ACB4}" srcOrd="3" destOrd="0" presId="urn:microsoft.com/office/officeart/2005/8/layout/StepDownProcess"/>
    <dgm:cxn modelId="{C870278F-4DD9-47F6-894C-F324E5D3DA94}" type="presParOf" srcId="{16861042-E810-427C-A18B-F7E9A8CA9912}" destId="{A94A50F3-72AF-45C9-828E-267A7A28EC74}" srcOrd="4" destOrd="0" presId="urn:microsoft.com/office/officeart/2005/8/layout/StepDownProcess"/>
    <dgm:cxn modelId="{06C38E6F-2CC2-4741-AED2-F4D6FF8C5807}" type="presParOf" srcId="{A94A50F3-72AF-45C9-828E-267A7A28EC74}" destId="{2C1BA3C6-83AF-49E0-8B7F-0CBD9268D7AD}" srcOrd="0" destOrd="0" presId="urn:microsoft.com/office/officeart/2005/8/layout/StepDownProcess"/>
    <dgm:cxn modelId="{063329F4-587B-459F-831C-C8F146F75A49}" type="presParOf" srcId="{A94A50F3-72AF-45C9-828E-267A7A28EC74}" destId="{DD5E972D-50E0-4B3C-826E-608C1238DF3E}" srcOrd="1" destOrd="0" presId="urn:microsoft.com/office/officeart/2005/8/layout/StepDownProcess"/>
    <dgm:cxn modelId="{2374D8A7-4F4B-4BBC-B8AE-E4E9AF5FBF40}" type="presParOf" srcId="{A94A50F3-72AF-45C9-828E-267A7A28EC74}" destId="{9FB11A6A-025D-4FDD-A973-28F1605592CF}" srcOrd="2" destOrd="0" presId="urn:microsoft.com/office/officeart/2005/8/layout/StepDownProcess"/>
    <dgm:cxn modelId="{B45D5DD1-EF4C-4331-8519-35F18337402B}" type="presParOf" srcId="{16861042-E810-427C-A18B-F7E9A8CA9912}" destId="{4B7CDCE2-44E1-4F6A-BC81-6CCF6CADE797}" srcOrd="5" destOrd="0" presId="urn:microsoft.com/office/officeart/2005/8/layout/StepDownProcess"/>
    <dgm:cxn modelId="{9200FECB-A6E2-4972-8B3E-A92D5F29D793}" type="presParOf" srcId="{16861042-E810-427C-A18B-F7E9A8CA9912}" destId="{49721555-5414-4C73-A20C-2E2A7B4952E3}" srcOrd="6" destOrd="0" presId="urn:microsoft.com/office/officeart/2005/8/layout/StepDownProcess"/>
    <dgm:cxn modelId="{4773A524-CF6B-412D-A7E7-EB220436F31B}" type="presParOf" srcId="{49721555-5414-4C73-A20C-2E2A7B4952E3}" destId="{67E8AC6A-0F7E-45ED-A8C2-E9826021ACB1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B342A-D8C2-4D6A-A723-958A400E7F96}">
      <dsp:nvSpPr>
        <dsp:cNvPr id="0" name=""/>
        <dsp:cNvSpPr/>
      </dsp:nvSpPr>
      <dsp:spPr>
        <a:xfrm rot="5400000">
          <a:off x="582560" y="1080570"/>
          <a:ext cx="948975" cy="108037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CB8D9-D1FA-443C-8EB2-3531CB74F716}">
      <dsp:nvSpPr>
        <dsp:cNvPr id="0" name=""/>
        <dsp:cNvSpPr/>
      </dsp:nvSpPr>
      <dsp:spPr>
        <a:xfrm>
          <a:off x="331139" y="28611"/>
          <a:ext cx="1597516" cy="1118209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 Collection and Preprocessing</a:t>
          </a:r>
          <a:endParaRPr lang="en-IN" sz="1600" kern="1200" dirty="0"/>
        </a:p>
      </dsp:txBody>
      <dsp:txXfrm>
        <a:off x="385735" y="83207"/>
        <a:ext cx="1488324" cy="1009017"/>
      </dsp:txXfrm>
    </dsp:sp>
    <dsp:sp modelId="{B8439C83-E643-47BB-B6D8-EC1FF42A79C2}">
      <dsp:nvSpPr>
        <dsp:cNvPr id="0" name=""/>
        <dsp:cNvSpPr/>
      </dsp:nvSpPr>
      <dsp:spPr>
        <a:xfrm>
          <a:off x="1928656" y="135258"/>
          <a:ext cx="1161881" cy="903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08BA2C-87F1-42A4-A987-6BC55970CB27}">
      <dsp:nvSpPr>
        <dsp:cNvPr id="0" name=""/>
        <dsp:cNvSpPr/>
      </dsp:nvSpPr>
      <dsp:spPr>
        <a:xfrm rot="5400000">
          <a:off x="1907071" y="2336689"/>
          <a:ext cx="948975" cy="108037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F5123-A15E-4443-8E95-5B6E8C93D136}">
      <dsp:nvSpPr>
        <dsp:cNvPr id="0" name=""/>
        <dsp:cNvSpPr/>
      </dsp:nvSpPr>
      <dsp:spPr>
        <a:xfrm>
          <a:off x="1655650" y="1284730"/>
          <a:ext cx="1597516" cy="1118209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Preprocessing</a:t>
          </a:r>
          <a:endParaRPr lang="en-IN" sz="1800" kern="1200" dirty="0"/>
        </a:p>
      </dsp:txBody>
      <dsp:txXfrm>
        <a:off x="1710246" y="1339326"/>
        <a:ext cx="1488324" cy="1009017"/>
      </dsp:txXfrm>
    </dsp:sp>
    <dsp:sp modelId="{75420F7D-5F85-4437-B8FF-D8C7A4759E10}">
      <dsp:nvSpPr>
        <dsp:cNvPr id="0" name=""/>
        <dsp:cNvSpPr/>
      </dsp:nvSpPr>
      <dsp:spPr>
        <a:xfrm>
          <a:off x="3253167" y="1391377"/>
          <a:ext cx="1161881" cy="903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1BA3C6-83AF-49E0-8B7F-0CBD9268D7AD}">
      <dsp:nvSpPr>
        <dsp:cNvPr id="0" name=""/>
        <dsp:cNvSpPr/>
      </dsp:nvSpPr>
      <dsp:spPr>
        <a:xfrm rot="5400000">
          <a:off x="3231582" y="3592808"/>
          <a:ext cx="948975" cy="108037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5E972D-50E0-4B3C-826E-608C1238DF3E}">
      <dsp:nvSpPr>
        <dsp:cNvPr id="0" name=""/>
        <dsp:cNvSpPr/>
      </dsp:nvSpPr>
      <dsp:spPr>
        <a:xfrm>
          <a:off x="2980161" y="2540849"/>
          <a:ext cx="1597516" cy="1118209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Model Deployment</a:t>
          </a:r>
          <a:endParaRPr lang="en-IN" sz="1800" kern="1200" dirty="0"/>
        </a:p>
      </dsp:txBody>
      <dsp:txXfrm>
        <a:off x="3034757" y="2595445"/>
        <a:ext cx="1488324" cy="1009017"/>
      </dsp:txXfrm>
    </dsp:sp>
    <dsp:sp modelId="{9FB11A6A-025D-4FDD-A973-28F1605592CF}">
      <dsp:nvSpPr>
        <dsp:cNvPr id="0" name=""/>
        <dsp:cNvSpPr/>
      </dsp:nvSpPr>
      <dsp:spPr>
        <a:xfrm>
          <a:off x="4577678" y="2647496"/>
          <a:ext cx="1161881" cy="903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E8AC6A-0F7E-45ED-A8C2-E9826021ACB1}">
      <dsp:nvSpPr>
        <dsp:cNvPr id="0" name=""/>
        <dsp:cNvSpPr/>
      </dsp:nvSpPr>
      <dsp:spPr>
        <a:xfrm>
          <a:off x="4304672" y="3796968"/>
          <a:ext cx="1597516" cy="1118209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Evaluation</a:t>
          </a:r>
          <a:endParaRPr lang="en-IN" sz="1800" kern="1200" dirty="0"/>
        </a:p>
      </dsp:txBody>
      <dsp:txXfrm>
        <a:off x="4359268" y="3851564"/>
        <a:ext cx="1488324" cy="1009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04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3190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Diabetic Neuropathy Risk Prediction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40185"/>
            <a:ext cx="75327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Thermal Foot Image Analysis using Machine Learning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50346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Department of Computer Science and Engineering (2025-26)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8467"/>
            <a:ext cx="60939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Team &amp; Guide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942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Batch No: 49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7536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Guide Name: Amaresh A M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4234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Agasthya Samyak Jnan (02JST22UCS006)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8453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Jayanth S (02JST22UCS043)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Arvind Ningombam (02JST22UCS017)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689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Prajwal T P (01JST21CS099)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548" y="1672895"/>
            <a:ext cx="4096039" cy="40960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2756" y="495122"/>
            <a:ext cx="1326385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Introduction: The DPN Challenge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572756" y="1933285"/>
            <a:ext cx="3664744" cy="2448044"/>
          </a:xfrm>
          <a:prstGeom prst="roundRect">
            <a:avLst>
              <a:gd name="adj" fmla="val 597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42276" y="1933285"/>
            <a:ext cx="121920" cy="2448044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21490" y="2190579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Diabetic Peripheral Neuropathy (DPN)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21490" y="3035327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Common, serious complication of long-term diabetes.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464314" y="1933285"/>
            <a:ext cx="3664863" cy="2448044"/>
          </a:xfrm>
          <a:prstGeom prst="roundRect">
            <a:avLst>
              <a:gd name="adj" fmla="val 597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433834" y="1933285"/>
            <a:ext cx="121920" cy="2448044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813048" y="2190579"/>
            <a:ext cx="30588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Progressive Nerve Damage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813048" y="3035327"/>
            <a:ext cx="30588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Affects sensory and autonomic nerves in feet/legs.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72756" y="4608143"/>
            <a:ext cx="3664744" cy="2448044"/>
          </a:xfrm>
          <a:prstGeom prst="roundRect">
            <a:avLst>
              <a:gd name="adj" fmla="val 597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42276" y="4608143"/>
            <a:ext cx="121920" cy="2448044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21490" y="4865437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High Amputation Risk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21490" y="5710185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Neuropathy implicated in most non-traumatic lower-limb amputations.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2519"/>
            <a:ext cx="111541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Thermal Imaging: A Promising Solution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06612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33952" y="2286120"/>
            <a:ext cx="34579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Non-Invasive &amp; Practical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952" y="2867264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Uses thermal camera for plantar foot thermogram.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80428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33952" y="3683795"/>
            <a:ext cx="31069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Detects Abnormalities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33952" y="4264939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Localized hot/cold spots indicate neuropathic/vascular issues.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6486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133952" y="54443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Early Detection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33952" y="6025516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Precedes visible skin breakdown, affordable, easy to implement.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28891AC-C9AE-C711-5788-9BB6D00D596A}"/>
              </a:ext>
            </a:extLst>
          </p:cNvPr>
          <p:cNvSpPr/>
          <p:nvPr/>
        </p:nvSpPr>
        <p:spPr>
          <a:xfrm>
            <a:off x="572757" y="495122"/>
            <a:ext cx="6199832" cy="61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Literature Review</a:t>
            </a:r>
            <a:endParaRPr lang="en-US" sz="4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F9BE22-15DF-1E43-808D-65DFD7CE3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61" y="1593932"/>
            <a:ext cx="8939794" cy="552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69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6A9067-5C79-7C63-FD7F-FF3808A64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8" y="1951600"/>
            <a:ext cx="9118995" cy="55547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7F79F9-4C98-53FE-C3BC-A47E57571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2" y="1357964"/>
            <a:ext cx="9118994" cy="684068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4B5EDFD3-5B2A-CE03-19F7-A204F8571627}"/>
              </a:ext>
            </a:extLst>
          </p:cNvPr>
          <p:cNvSpPr/>
          <p:nvPr/>
        </p:nvSpPr>
        <p:spPr>
          <a:xfrm>
            <a:off x="572757" y="418183"/>
            <a:ext cx="6199832" cy="61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Literature Review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3472497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3161" y="644856"/>
            <a:ext cx="33260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Limitations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1020603" y="1957035"/>
            <a:ext cx="58625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Limited clinical diversity in the dataset.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020604" y="2804233"/>
            <a:ext cx="5348817" cy="44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Absence of direct neuropathy labels.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1020604" y="3741122"/>
            <a:ext cx="53488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Small angiosome-annotated subset.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7FB81F9C-51D4-F015-9899-08C3B597BAC3}"/>
              </a:ext>
            </a:extLst>
          </p:cNvPr>
          <p:cNvSpPr/>
          <p:nvPr/>
        </p:nvSpPr>
        <p:spPr>
          <a:xfrm>
            <a:off x="1020604" y="4593129"/>
            <a:ext cx="84851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Thermal images are sensitive to environmental conditions.</a:t>
            </a:r>
            <a:endParaRPr lang="en-US" sz="22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5D6B1BD-E892-7DFC-4BB4-040C1B67D422}"/>
              </a:ext>
            </a:extLst>
          </p:cNvPr>
          <p:cNvSpPr/>
          <p:nvPr/>
        </p:nvSpPr>
        <p:spPr>
          <a:xfrm>
            <a:off x="1020603" y="5440327"/>
            <a:ext cx="70783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Potential for overfitting due to limited subjects.</a:t>
            </a:r>
            <a:endParaRPr lang="en-US" sz="22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C8DABFC-48B5-06EF-F436-F4A0DAEAC03C}"/>
              </a:ext>
            </a:extLst>
          </p:cNvPr>
          <p:cNvSpPr/>
          <p:nvPr/>
        </p:nvSpPr>
        <p:spPr>
          <a:xfrm>
            <a:off x="1020603" y="6287525"/>
            <a:ext cx="53488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Lack of multimodal clinical data.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2098" y="465177"/>
            <a:ext cx="4229814" cy="528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Objectives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4470499" y="1374577"/>
            <a:ext cx="203002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84146" y="1882863"/>
            <a:ext cx="8078500" cy="35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 develop a Deep Learning based Classification Model.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92098" y="3175635"/>
            <a:ext cx="7959804" cy="1251347"/>
          </a:xfrm>
          <a:prstGeom prst="roundRect">
            <a:avLst>
              <a:gd name="adj" fmla="val 8769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470499" y="3048833"/>
            <a:ext cx="203002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84146" y="3001859"/>
            <a:ext cx="6275328" cy="34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 integrate Model Explainability methods.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84146" y="4280285"/>
            <a:ext cx="9153675" cy="421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 interpret Model Predictions in context of Neuropathic Risks.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84146" y="5638562"/>
            <a:ext cx="7575709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70499" y="6397347"/>
            <a:ext cx="203002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784146" y="5632336"/>
            <a:ext cx="9826913" cy="421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 Evaluate the proposed system using Standard Performance Metrics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381" y="596622"/>
            <a:ext cx="3879089" cy="678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Methodology</a:t>
            </a:r>
            <a:endParaRPr lang="en-US" sz="4250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0B61646-8141-E90C-9A25-CBD191BD52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2499446"/>
              </p:ext>
            </p:extLst>
          </p:nvPr>
        </p:nvGraphicFramePr>
        <p:xfrm>
          <a:off x="7954944" y="1718268"/>
          <a:ext cx="6233329" cy="4943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284C865-BE87-7164-15F7-043758F9867A}"/>
              </a:ext>
            </a:extLst>
          </p:cNvPr>
          <p:cNvSpPr txBox="1"/>
          <p:nvPr/>
        </p:nvSpPr>
        <p:spPr>
          <a:xfrm>
            <a:off x="1016345" y="1567736"/>
            <a:ext cx="649982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Gelasio Semi Bold" panose="020B0604020202020204" charset="0"/>
                <a:cs typeface="Gelasio Semi Bold" panose="020B0604020202020204" charset="0"/>
              </a:rPr>
              <a:t>1. Data Collection</a:t>
            </a:r>
            <a:br>
              <a:rPr lang="en-US" sz="1600" dirty="0"/>
            </a:b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A dataset of </a:t>
            </a:r>
            <a:r>
              <a:rPr lang="en-US" sz="1600" b="1" dirty="0">
                <a:latin typeface="Gelasio" panose="020B0604020202020204" charset="0"/>
                <a:cs typeface="Gelasio" panose="020B0604020202020204" charset="0"/>
              </a:rPr>
              <a:t>1866 thermal plantar foot images</a:t>
            </a: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 from diabetic and non-diabetic individuals is used. An additional </a:t>
            </a:r>
            <a:r>
              <a:rPr lang="en-US" sz="1600" b="1" dirty="0">
                <a:latin typeface="Gelasio" panose="020B0604020202020204" charset="0"/>
                <a:cs typeface="Gelasio" panose="020B0604020202020204" charset="0"/>
              </a:rPr>
              <a:t>45 angiosome-annotated images</a:t>
            </a: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 from IEEE Dataport support region-based interpretation.</a:t>
            </a:r>
          </a:p>
          <a:p>
            <a:endParaRPr lang="en-US" sz="1600" b="1" dirty="0">
              <a:latin typeface="Gelasio Semi Bold" panose="020B0604020202020204" charset="0"/>
              <a:cs typeface="Gelasio Semi Bold" panose="020B0604020202020204" charset="0"/>
            </a:endParaRPr>
          </a:p>
          <a:p>
            <a:r>
              <a:rPr lang="en-US" sz="1600" b="1" dirty="0">
                <a:latin typeface="Gelasio Semi Bold" panose="020B0604020202020204" charset="0"/>
                <a:cs typeface="Gelasio Semi Bold" panose="020B0604020202020204" charset="0"/>
              </a:rPr>
              <a:t>2. Preprocessing</a:t>
            </a:r>
            <a:br>
              <a:rPr lang="en-US" sz="1600" dirty="0"/>
            </a:b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All images are converted to a uniform format and resized to </a:t>
            </a:r>
            <a:r>
              <a:rPr lang="en-US" sz="1600" b="1" dirty="0">
                <a:latin typeface="Gelasio" panose="020B0604020202020204" charset="0"/>
                <a:cs typeface="Gelasio" panose="020B0604020202020204" charset="0"/>
              </a:rPr>
              <a:t>224×224</a:t>
            </a: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. Pixel intensities are normalized, noise is reduced, and each image is labeled as </a:t>
            </a:r>
            <a:r>
              <a:rPr lang="en-US" sz="1600" i="1" dirty="0">
                <a:latin typeface="Gelasio" panose="020B0604020202020204" charset="0"/>
                <a:cs typeface="Gelasio" panose="020B0604020202020204" charset="0"/>
              </a:rPr>
              <a:t>Diabetic</a:t>
            </a: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 or </a:t>
            </a:r>
            <a:r>
              <a:rPr lang="en-US" sz="1600" i="1" dirty="0">
                <a:latin typeface="Gelasio" panose="020B0604020202020204" charset="0"/>
                <a:cs typeface="Gelasio" panose="020B0604020202020204" charset="0"/>
              </a:rPr>
              <a:t>Control</a:t>
            </a: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. Data augmentation (rotation, zoom, flips, brightness changes) is applied to improve generalization.</a:t>
            </a:r>
          </a:p>
          <a:p>
            <a:endParaRPr lang="en-US" sz="1600" b="1" dirty="0">
              <a:latin typeface="Gelasio Semi Bold" panose="020B0604020202020204" charset="0"/>
              <a:cs typeface="Gelasio Semi Bold" panose="020B0604020202020204" charset="0"/>
            </a:endParaRPr>
          </a:p>
          <a:p>
            <a:r>
              <a:rPr lang="en-US" sz="1600" b="1" dirty="0">
                <a:latin typeface="Gelasio Semi Bold" panose="020B0604020202020204" charset="0"/>
                <a:cs typeface="Gelasio Semi Bold" panose="020B0604020202020204" charset="0"/>
              </a:rPr>
              <a:t>3. Model Development &amp; Training</a:t>
            </a:r>
            <a:br>
              <a:rPr lang="en-US" sz="1600" dirty="0"/>
            </a:b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A transfer-learning CNN classifier is built using </a:t>
            </a:r>
            <a:r>
              <a:rPr lang="en-US" sz="1600" b="1" dirty="0">
                <a:latin typeface="Gelasio" panose="020B0604020202020204" charset="0"/>
                <a:cs typeface="Gelasio" panose="020B0604020202020204" charset="0"/>
              </a:rPr>
              <a:t>EfficientNet-B0 or MobileNetV2</a:t>
            </a: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. Base layers are frozen initially, and classifier layers are trained using Adam optimizer and cross-entropy loss. The dataset is split into training, validation, and testing sets. Early stopping and model checkpoints prevent overfitting.</a:t>
            </a:r>
          </a:p>
          <a:p>
            <a:endParaRPr lang="en-US" sz="1600" b="1" dirty="0">
              <a:latin typeface="Gelasio Semi Bold" panose="020B0604020202020204" charset="0"/>
              <a:cs typeface="Gelasio Semi Bold" panose="020B0604020202020204" charset="0"/>
            </a:endParaRPr>
          </a:p>
          <a:p>
            <a:r>
              <a:rPr lang="en-US" sz="1600" b="1" dirty="0">
                <a:latin typeface="Gelasio Semi Bold" panose="020B0604020202020204" charset="0"/>
                <a:cs typeface="Gelasio Semi Bold" panose="020B0604020202020204" charset="0"/>
              </a:rPr>
              <a:t>4. Performance Evaluation</a:t>
            </a:r>
            <a:br>
              <a:rPr lang="en-US" sz="1600" dirty="0"/>
            </a:b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The model is evaluated using </a:t>
            </a:r>
            <a:r>
              <a:rPr lang="en-US" sz="1600" b="1" dirty="0">
                <a:latin typeface="Gelasio" panose="020B0604020202020204" charset="0"/>
                <a:cs typeface="Gelasio" panose="020B0604020202020204" charset="0"/>
              </a:rPr>
              <a:t>Accuracy, Precision, Recall, F1-Score, ROC-AUC</a:t>
            </a: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, and a </a:t>
            </a:r>
            <a:r>
              <a:rPr lang="en-US" sz="1600" b="1" dirty="0">
                <a:latin typeface="Gelasio" panose="020B0604020202020204" charset="0"/>
                <a:cs typeface="Gelasio" panose="020B0604020202020204" charset="0"/>
              </a:rPr>
              <a:t>Confusion Matrix</a:t>
            </a:r>
            <a:r>
              <a:rPr lang="en-US" sz="1600" dirty="0">
                <a:latin typeface="Gelasio" panose="020B0604020202020204" charset="0"/>
                <a:cs typeface="Gelasio" panose="020B0604020202020204" charset="0"/>
              </a:rPr>
              <a:t>. Grad-CAM visualizations are used to interpret thermal regions related to neuropathic risk.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112" y="405646"/>
            <a:ext cx="2048218" cy="45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Work Plan</a:t>
            </a:r>
            <a:endParaRPr lang="en-US" sz="2850" dirty="0"/>
          </a:p>
        </p:txBody>
      </p: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EEC2C9A7-A95F-E40F-014E-EA1DD111ED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2510814"/>
              </p:ext>
            </p:extLst>
          </p:nvPr>
        </p:nvGraphicFramePr>
        <p:xfrm>
          <a:off x="1493135" y="1523357"/>
          <a:ext cx="10351625" cy="5548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23290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439638" y="2414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Effective Tool: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141" y="2779578"/>
            <a:ext cx="5266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Thermal imaging + deep learning for early DPN risk.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14972" y="3255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Good Accuracy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743141" y="3722051"/>
            <a:ext cx="60237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Distinguishes diabetic vs. non-diabetic thermal profiles.</a:t>
            </a:r>
            <a:endParaRPr lang="en-US" sz="1750" dirty="0"/>
          </a:p>
        </p:txBody>
      </p:sp>
      <p:sp>
        <p:nvSpPr>
          <p:cNvPr id="11" name="Text 5"/>
          <p:cNvSpPr/>
          <p:nvPr/>
        </p:nvSpPr>
        <p:spPr>
          <a:xfrm>
            <a:off x="814972" y="53737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Clinical Relevance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743142" y="5822677"/>
            <a:ext cx="110934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Grad-CAM aligns with angiosome zones, showing microvascular impairment.</a:t>
            </a:r>
            <a:endParaRPr lang="en-US" sz="1750" dirty="0"/>
          </a:p>
        </p:txBody>
      </p:sp>
      <p:sp>
        <p:nvSpPr>
          <p:cNvPr id="15" name="Text 7"/>
          <p:cNvSpPr/>
          <p:nvPr/>
        </p:nvSpPr>
        <p:spPr>
          <a:xfrm>
            <a:off x="942856" y="43804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Promising Method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2743141" y="4779908"/>
            <a:ext cx="57164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thermal analysis as complementary screening.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469</Words>
  <Application>Microsoft Office PowerPoint</Application>
  <PresentationFormat>Custom</PresentationFormat>
  <Paragraphs>69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Gelasio Semi Bold</vt:lpstr>
      <vt:lpstr>Gelasio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airina ningombam</cp:lastModifiedBy>
  <cp:revision>4</cp:revision>
  <dcterms:created xsi:type="dcterms:W3CDTF">2025-11-21T14:25:31Z</dcterms:created>
  <dcterms:modified xsi:type="dcterms:W3CDTF">2025-11-21T16:30:08Z</dcterms:modified>
</cp:coreProperties>
</file>